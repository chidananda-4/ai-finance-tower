
<file path=[Content_Types].xml><?xml version="1.0" encoding="utf-8"?>
<Types xmlns="http://schemas.openxmlformats.org/package/2006/content-types">
  <Default Extension="emf" ContentType="image/x-emf"/>
  <Default Extension="mp4" ContentType="video/mp4"/>
  <Default Extension="png" ContentType="image/png"/>
  <Default Extension="rels" ContentType="application/vnd.openxmlformats-package.relationships+xml"/>
  <Default Extension="vtt" ContentType="text/vtt"/>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5"/>
  </p:notesMasterIdLst>
  <p:handoutMasterIdLst>
    <p:handoutMasterId r:id="rId16"/>
  </p:handoutMasterIdLst>
  <p:sldIdLst>
    <p:sldId id="256" r:id="rId5"/>
    <p:sldId id="271" r:id="rId6"/>
    <p:sldId id="283" r:id="rId7"/>
    <p:sldId id="279" r:id="rId8"/>
    <p:sldId id="281" r:id="rId9"/>
    <p:sldId id="280" r:id="rId10"/>
    <p:sldId id="257" r:id="rId11"/>
    <p:sldId id="275" r:id="rId12"/>
    <p:sldId id="276" r:id="rId13"/>
    <p:sldId id="28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83"/>
            <p14:sldId id="279"/>
            <p14:sldId id="281"/>
            <p14:sldId id="280"/>
            <p14:sldId id="257"/>
            <p14:sldId id="275"/>
            <p14:sldId id="276"/>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241" autoAdjust="0"/>
  </p:normalViewPr>
  <p:slideViewPr>
    <p:cSldViewPr snapToGrid="0">
      <p:cViewPr varScale="1">
        <p:scale>
          <a:sx n="68" d="100"/>
          <a:sy n="68" d="100"/>
        </p:scale>
        <p:origin x="616" y="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200" dirty="0">
                <a:latin typeface="Calibri" panose="020F0502020204030204" pitchFamily="34" charset="0"/>
                <a:ea typeface="Calibri" panose="020F0502020204030204" pitchFamily="34" charset="0"/>
                <a:cs typeface="Calibri" panose="020F0502020204030204" pitchFamily="34" charset="0"/>
              </a:rPr>
              <a:t>Expense</a:t>
            </a:r>
            <a:r>
              <a:rPr lang="en-IN" sz="1200" baseline="0" dirty="0">
                <a:latin typeface="Calibri" panose="020F0502020204030204" pitchFamily="34" charset="0"/>
                <a:ea typeface="Calibri" panose="020F0502020204030204" pitchFamily="34" charset="0"/>
                <a:cs typeface="Calibri" panose="020F0502020204030204" pitchFamily="34" charset="0"/>
              </a:rPr>
              <a:t> Trend</a:t>
            </a:r>
            <a:endParaRPr lang="en-IN" sz="1200" dirty="0">
              <a:latin typeface="Calibri" panose="020F0502020204030204" pitchFamily="34" charset="0"/>
              <a:ea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East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8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Cache>
            </c:strRef>
          </c:cat>
          <c:val>
            <c:numRef>
              <c:f>Sheet1!$B$2:$B$13</c:f>
              <c:numCache>
                <c:formatCode>0%</c:formatCode>
                <c:ptCount val="12"/>
                <c:pt idx="0">
                  <c:v>0.27046801355332101</c:v>
                </c:pt>
                <c:pt idx="1">
                  <c:v>0.26126652479190998</c:v>
                </c:pt>
                <c:pt idx="2">
                  <c:v>0.29730806051417674</c:v>
                </c:pt>
                <c:pt idx="3">
                  <c:v>0.26520351833325062</c:v>
                </c:pt>
                <c:pt idx="4">
                  <c:v>0.2739663021687615</c:v>
                </c:pt>
                <c:pt idx="5">
                  <c:v>0.26690960553245124</c:v>
                </c:pt>
                <c:pt idx="6">
                  <c:v>0.26751441894275779</c:v>
                </c:pt>
                <c:pt idx="7">
                  <c:v>0.25712747484513498</c:v>
                </c:pt>
                <c:pt idx="8">
                  <c:v>0.26382093548603319</c:v>
                </c:pt>
                <c:pt idx="9">
                  <c:v>0.26228964405772831</c:v>
                </c:pt>
                <c:pt idx="10">
                  <c:v>0.29539536020024548</c:v>
                </c:pt>
                <c:pt idx="11">
                  <c:v>0.2766954696566517</c:v>
                </c:pt>
              </c:numCache>
            </c:numRef>
          </c:val>
          <c:extLst>
            <c:ext xmlns:c16="http://schemas.microsoft.com/office/drawing/2014/chart" uri="{C3380CC4-5D6E-409C-BE32-E72D297353CC}">
              <c16:uniqueId val="{00000000-76E5-4D7F-8B11-84B81DA5626D}"/>
            </c:ext>
          </c:extLst>
        </c:ser>
        <c:ser>
          <c:idx val="1"/>
          <c:order val="1"/>
          <c:tx>
            <c:strRef>
              <c:f>Sheet1!$C$1</c:f>
              <c:strCache>
                <c:ptCount val="1"/>
                <c:pt idx="0">
                  <c:v>North</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8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Cache>
            </c:strRef>
          </c:cat>
          <c:val>
            <c:numRef>
              <c:f>Sheet1!$C$2:$C$13</c:f>
              <c:numCache>
                <c:formatCode>0%</c:formatCode>
                <c:ptCount val="12"/>
                <c:pt idx="0">
                  <c:v>0.19777342620979135</c:v>
                </c:pt>
                <c:pt idx="1">
                  <c:v>0.20982563640721083</c:v>
                </c:pt>
                <c:pt idx="2">
                  <c:v>0.18460362390728574</c:v>
                </c:pt>
                <c:pt idx="3">
                  <c:v>0.18468439179758481</c:v>
                </c:pt>
                <c:pt idx="4">
                  <c:v>0.1932410703895707</c:v>
                </c:pt>
                <c:pt idx="5">
                  <c:v>0.19217414793852419</c:v>
                </c:pt>
                <c:pt idx="6">
                  <c:v>0.18974993818164299</c:v>
                </c:pt>
                <c:pt idx="7">
                  <c:v>0.19018637542571679</c:v>
                </c:pt>
                <c:pt idx="8">
                  <c:v>0.17009545961949646</c:v>
                </c:pt>
                <c:pt idx="9">
                  <c:v>0.19984710497666841</c:v>
                </c:pt>
                <c:pt idx="10">
                  <c:v>0.17410975907362039</c:v>
                </c:pt>
                <c:pt idx="11">
                  <c:v>0.18630019273551571</c:v>
                </c:pt>
              </c:numCache>
            </c:numRef>
          </c:val>
          <c:extLst>
            <c:ext xmlns:c16="http://schemas.microsoft.com/office/drawing/2014/chart" uri="{C3380CC4-5D6E-409C-BE32-E72D297353CC}">
              <c16:uniqueId val="{00000001-76E5-4D7F-8B11-84B81DA5626D}"/>
            </c:ext>
          </c:extLst>
        </c:ser>
        <c:ser>
          <c:idx val="2"/>
          <c:order val="2"/>
          <c:tx>
            <c:strRef>
              <c:f>Sheet1!$D$1</c:f>
              <c:strCache>
                <c:ptCount val="1"/>
                <c:pt idx="0">
                  <c:v>South</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8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Cache>
            </c:strRef>
          </c:cat>
          <c:val>
            <c:numRef>
              <c:f>Sheet1!$D$2:$D$13</c:f>
              <c:numCache>
                <c:formatCode>0%</c:formatCode>
                <c:ptCount val="12"/>
                <c:pt idx="0">
                  <c:v>0.24052666867032754</c:v>
                </c:pt>
                <c:pt idx="1">
                  <c:v>0.24899197093582112</c:v>
                </c:pt>
                <c:pt idx="2">
                  <c:v>0.22581885406257157</c:v>
                </c:pt>
                <c:pt idx="3">
                  <c:v>0.23258618987167337</c:v>
                </c:pt>
                <c:pt idx="4">
                  <c:v>0.22780769336458279</c:v>
                </c:pt>
                <c:pt idx="5">
                  <c:v>0.24858317035394756</c:v>
                </c:pt>
                <c:pt idx="6">
                  <c:v>0.22752369856990767</c:v>
                </c:pt>
                <c:pt idx="7">
                  <c:v>0.25459398421754614</c:v>
                </c:pt>
                <c:pt idx="8">
                  <c:v>0.24684113157975296</c:v>
                </c:pt>
                <c:pt idx="9">
                  <c:v>0.22935620767443424</c:v>
                </c:pt>
                <c:pt idx="10">
                  <c:v>0.25884818603840459</c:v>
                </c:pt>
                <c:pt idx="11">
                  <c:v>0.22920675472191179</c:v>
                </c:pt>
              </c:numCache>
            </c:numRef>
          </c:val>
          <c:extLst>
            <c:ext xmlns:c16="http://schemas.microsoft.com/office/drawing/2014/chart" uri="{C3380CC4-5D6E-409C-BE32-E72D297353CC}">
              <c16:uniqueId val="{00000002-76E5-4D7F-8B11-84B81DA5626D}"/>
            </c:ext>
          </c:extLst>
        </c:ser>
        <c:ser>
          <c:idx val="3"/>
          <c:order val="3"/>
          <c:tx>
            <c:strRef>
              <c:f>Sheet1!$E$1</c:f>
              <c:strCache>
                <c:ptCount val="1"/>
                <c:pt idx="0">
                  <c:v>West</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Cache>
            </c:strRef>
          </c:cat>
          <c:val>
            <c:numRef>
              <c:f>Sheet1!$E$2:$E$13</c:f>
              <c:numCache>
                <c:formatCode>0%</c:formatCode>
                <c:ptCount val="12"/>
                <c:pt idx="0">
                  <c:v>0.29123189156656004</c:v>
                </c:pt>
                <c:pt idx="1">
                  <c:v>0.27991586786505807</c:v>
                </c:pt>
                <c:pt idx="2">
                  <c:v>0.29226946151596583</c:v>
                </c:pt>
                <c:pt idx="3">
                  <c:v>0.31752589999749126</c:v>
                </c:pt>
                <c:pt idx="4">
                  <c:v>0.30498493407708499</c:v>
                </c:pt>
                <c:pt idx="5">
                  <c:v>0.29233307617507692</c:v>
                </c:pt>
                <c:pt idx="6">
                  <c:v>0.3152119443056916</c:v>
                </c:pt>
                <c:pt idx="7">
                  <c:v>0.29809216551160217</c:v>
                </c:pt>
                <c:pt idx="8">
                  <c:v>0.31924247331471745</c:v>
                </c:pt>
                <c:pt idx="9">
                  <c:v>0.30850704329116896</c:v>
                </c:pt>
                <c:pt idx="10">
                  <c:v>0.27164669468772951</c:v>
                </c:pt>
                <c:pt idx="11">
                  <c:v>0.3077975828859208</c:v>
                </c:pt>
              </c:numCache>
            </c:numRef>
          </c:val>
          <c:extLst>
            <c:ext xmlns:c16="http://schemas.microsoft.com/office/drawing/2014/chart" uri="{C3380CC4-5D6E-409C-BE32-E72D297353CC}">
              <c16:uniqueId val="{00000003-76E5-4D7F-8B11-84B81DA5626D}"/>
            </c:ext>
          </c:extLst>
        </c:ser>
        <c:dLbls>
          <c:showLegendKey val="0"/>
          <c:showVal val="1"/>
          <c:showCatName val="0"/>
          <c:showSerName val="0"/>
          <c:showPercent val="0"/>
          <c:showBubbleSize val="0"/>
        </c:dLbls>
        <c:gapWidth val="219"/>
        <c:overlap val="100"/>
        <c:axId val="689779071"/>
        <c:axId val="689781471"/>
      </c:barChart>
      <c:lineChart>
        <c:grouping val="standard"/>
        <c:varyColors val="0"/>
        <c:ser>
          <c:idx val="4"/>
          <c:order val="4"/>
          <c:tx>
            <c:strRef>
              <c:f>Sheet1!$F$1</c:f>
              <c:strCache>
                <c:ptCount val="1"/>
                <c:pt idx="0">
                  <c:v>Grand Total</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Cache>
            </c:strRef>
          </c:cat>
          <c:val>
            <c:numRef>
              <c:f>Sheet1!$F$2:$F$13</c:f>
              <c:numCache>
                <c:formatCode>0.0,,"M"</c:formatCode>
                <c:ptCount val="12"/>
                <c:pt idx="0">
                  <c:v>241122505.95999998</c:v>
                </c:pt>
                <c:pt idx="1">
                  <c:v>203244199.28000003</c:v>
                </c:pt>
                <c:pt idx="2">
                  <c:v>278504423.65000004</c:v>
                </c:pt>
                <c:pt idx="3">
                  <c:v>235540595.20999998</c:v>
                </c:pt>
                <c:pt idx="4">
                  <c:v>239620879.54000002</c:v>
                </c:pt>
                <c:pt idx="5">
                  <c:v>224389502.91999999</c:v>
                </c:pt>
                <c:pt idx="6">
                  <c:v>245627929.14000008</c:v>
                </c:pt>
                <c:pt idx="7">
                  <c:v>233889244.95999998</c:v>
                </c:pt>
                <c:pt idx="8">
                  <c:v>253702134.23999998</c:v>
                </c:pt>
                <c:pt idx="9">
                  <c:v>264596316.60000008</c:v>
                </c:pt>
                <c:pt idx="10">
                  <c:v>247234278.36000004</c:v>
                </c:pt>
                <c:pt idx="11">
                  <c:v>257554274.87999988</c:v>
                </c:pt>
              </c:numCache>
            </c:numRef>
          </c:val>
          <c:smooth val="0"/>
          <c:extLst>
            <c:ext xmlns:c16="http://schemas.microsoft.com/office/drawing/2014/chart" uri="{C3380CC4-5D6E-409C-BE32-E72D297353CC}">
              <c16:uniqueId val="{00000004-76E5-4D7F-8B11-84B81DA5626D}"/>
            </c:ext>
          </c:extLst>
        </c:ser>
        <c:dLbls>
          <c:showLegendKey val="0"/>
          <c:showVal val="1"/>
          <c:showCatName val="0"/>
          <c:showSerName val="0"/>
          <c:showPercent val="0"/>
          <c:showBubbleSize val="0"/>
        </c:dLbls>
        <c:marker val="1"/>
        <c:smooth val="0"/>
        <c:axId val="1062849087"/>
        <c:axId val="1062849567"/>
      </c:lineChart>
      <c:catAx>
        <c:axId val="6897790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89781471"/>
        <c:crosses val="autoZero"/>
        <c:auto val="1"/>
        <c:lblAlgn val="ctr"/>
        <c:lblOffset val="100"/>
        <c:noMultiLvlLbl val="0"/>
      </c:catAx>
      <c:valAx>
        <c:axId val="689781471"/>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689779071"/>
        <c:crosses val="autoZero"/>
        <c:crossBetween val="between"/>
      </c:valAx>
      <c:valAx>
        <c:axId val="1062849567"/>
        <c:scaling>
          <c:orientation val="minMax"/>
        </c:scaling>
        <c:delete val="0"/>
        <c:axPos val="r"/>
        <c:numFmt formatCode="0.0,,&quot;M&quot;"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1062849087"/>
        <c:crosses val="max"/>
        <c:crossBetween val="between"/>
      </c:valAx>
      <c:catAx>
        <c:axId val="1062849087"/>
        <c:scaling>
          <c:orientation val="minMax"/>
        </c:scaling>
        <c:delete val="1"/>
        <c:axPos val="b"/>
        <c:numFmt formatCode="General" sourceLinked="1"/>
        <c:majorTickMark val="out"/>
        <c:minorTickMark val="none"/>
        <c:tickLblPos val="nextTo"/>
        <c:crossAx val="1062849567"/>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200" dirty="0">
                <a:latin typeface="Calibri" panose="020F0502020204030204" pitchFamily="34" charset="0"/>
                <a:ea typeface="Calibri" panose="020F0502020204030204" pitchFamily="34" charset="0"/>
                <a:cs typeface="Calibri" panose="020F0502020204030204" pitchFamily="34" charset="0"/>
              </a:rPr>
              <a:t>Business Unit Expense Trend</a:t>
            </a:r>
          </a:p>
        </c:rich>
      </c:tx>
      <c:layout>
        <c:manualLayout>
          <c:xMode val="edge"/>
          <c:yMode val="edge"/>
          <c:x val="0.26906962521531819"/>
          <c:y val="5.238743026475565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Consumer</c:v>
                </c:pt>
              </c:strCache>
            </c:strRef>
          </c:tx>
          <c:spPr>
            <a:ln w="28575" cap="rnd">
              <a:solidFill>
                <a:schemeClr val="accent1"/>
              </a:solidFill>
              <a:round/>
            </a:ln>
            <a:effectLst/>
          </c:spPr>
          <c:marker>
            <c:symbol val="none"/>
          </c:marker>
          <c:cat>
            <c:strRef>
              <c:f>Sheet1!$A$2:$A$13</c:f>
              <c:strCache>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Cache>
            </c:strRef>
          </c:cat>
          <c:val>
            <c:numRef>
              <c:f>Sheet1!$B$2:$B$13</c:f>
              <c:numCache>
                <c:formatCode>0.0,,"M"</c:formatCode>
                <c:ptCount val="12"/>
                <c:pt idx="0">
                  <c:v>89199440.229999989</c:v>
                </c:pt>
                <c:pt idx="1">
                  <c:v>77828745.140000001</c:v>
                </c:pt>
                <c:pt idx="2">
                  <c:v>118729246.2099999</c:v>
                </c:pt>
                <c:pt idx="3">
                  <c:v>92754960.450000077</c:v>
                </c:pt>
                <c:pt idx="4">
                  <c:v>93463507.480000034</c:v>
                </c:pt>
                <c:pt idx="5">
                  <c:v>86436242.970000029</c:v>
                </c:pt>
                <c:pt idx="6">
                  <c:v>101111363.09000003</c:v>
                </c:pt>
                <c:pt idx="7">
                  <c:v>94960375.780000001</c:v>
                </c:pt>
                <c:pt idx="8">
                  <c:v>101650684.0500001</c:v>
                </c:pt>
                <c:pt idx="9">
                  <c:v>107187523.05999997</c:v>
                </c:pt>
                <c:pt idx="10">
                  <c:v>97050037.52000007</c:v>
                </c:pt>
                <c:pt idx="11">
                  <c:v>102130670.87000008</c:v>
                </c:pt>
              </c:numCache>
            </c:numRef>
          </c:val>
          <c:smooth val="0"/>
          <c:extLst>
            <c:ext xmlns:c16="http://schemas.microsoft.com/office/drawing/2014/chart" uri="{C3380CC4-5D6E-409C-BE32-E72D297353CC}">
              <c16:uniqueId val="{00000000-FDC9-44F9-8F86-5F9A3B41EB56}"/>
            </c:ext>
          </c:extLst>
        </c:ser>
        <c:ser>
          <c:idx val="1"/>
          <c:order val="1"/>
          <c:tx>
            <c:strRef>
              <c:f>Sheet1!$C$1</c:f>
              <c:strCache>
                <c:ptCount val="1"/>
                <c:pt idx="0">
                  <c:v>Enterprise</c:v>
                </c:pt>
              </c:strCache>
            </c:strRef>
          </c:tx>
          <c:spPr>
            <a:ln w="28575" cap="rnd">
              <a:solidFill>
                <a:schemeClr val="accent2"/>
              </a:solidFill>
              <a:round/>
            </a:ln>
            <a:effectLst/>
          </c:spPr>
          <c:marker>
            <c:symbol val="none"/>
          </c:marker>
          <c:cat>
            <c:strRef>
              <c:f>Sheet1!$A$2:$A$13</c:f>
              <c:strCache>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Cache>
            </c:strRef>
          </c:cat>
          <c:val>
            <c:numRef>
              <c:f>Sheet1!$C$2:$C$13</c:f>
              <c:numCache>
                <c:formatCode>0.0,,"M"</c:formatCode>
                <c:ptCount val="12"/>
                <c:pt idx="0">
                  <c:v>58821127.86999999</c:v>
                </c:pt>
                <c:pt idx="1">
                  <c:v>48640112.940000042</c:v>
                </c:pt>
                <c:pt idx="2">
                  <c:v>57801172.000000022</c:v>
                </c:pt>
                <c:pt idx="3">
                  <c:v>56848573.699999996</c:v>
                </c:pt>
                <c:pt idx="4">
                  <c:v>62166750.210000008</c:v>
                </c:pt>
                <c:pt idx="5">
                  <c:v>52961158.799999975</c:v>
                </c:pt>
                <c:pt idx="6">
                  <c:v>57440486.790000007</c:v>
                </c:pt>
                <c:pt idx="7">
                  <c:v>50975219.400000013</c:v>
                </c:pt>
                <c:pt idx="8">
                  <c:v>60069032.709999979</c:v>
                </c:pt>
                <c:pt idx="9">
                  <c:v>63992995.849999994</c:v>
                </c:pt>
                <c:pt idx="10">
                  <c:v>59365701.710000016</c:v>
                </c:pt>
                <c:pt idx="11">
                  <c:v>64288780.959999956</c:v>
                </c:pt>
              </c:numCache>
            </c:numRef>
          </c:val>
          <c:smooth val="0"/>
          <c:extLst>
            <c:ext xmlns:c16="http://schemas.microsoft.com/office/drawing/2014/chart" uri="{C3380CC4-5D6E-409C-BE32-E72D297353CC}">
              <c16:uniqueId val="{00000001-FDC9-44F9-8F86-5F9A3B41EB56}"/>
            </c:ext>
          </c:extLst>
        </c:ser>
        <c:ser>
          <c:idx val="2"/>
          <c:order val="2"/>
          <c:tx>
            <c:strRef>
              <c:f>Sheet1!$D$1</c:f>
              <c:strCache>
                <c:ptCount val="1"/>
                <c:pt idx="0">
                  <c:v>SMB</c:v>
                </c:pt>
              </c:strCache>
            </c:strRef>
          </c:tx>
          <c:spPr>
            <a:ln w="28575" cap="rnd">
              <a:solidFill>
                <a:schemeClr val="accent3"/>
              </a:solidFill>
              <a:round/>
            </a:ln>
            <a:effectLst/>
          </c:spPr>
          <c:marker>
            <c:symbol val="none"/>
          </c:marker>
          <c:cat>
            <c:strRef>
              <c:f>Sheet1!$A$2:$A$13</c:f>
              <c:strCache>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Cache>
            </c:strRef>
          </c:cat>
          <c:val>
            <c:numRef>
              <c:f>Sheet1!$D$2:$D$13</c:f>
              <c:numCache>
                <c:formatCode>0.0,,"M"</c:formatCode>
                <c:ptCount val="12"/>
                <c:pt idx="0">
                  <c:v>93101937.85999985</c:v>
                </c:pt>
                <c:pt idx="1">
                  <c:v>76775341.199999943</c:v>
                </c:pt>
                <c:pt idx="2">
                  <c:v>101974005.43999986</c:v>
                </c:pt>
                <c:pt idx="3">
                  <c:v>85937061.060000032</c:v>
                </c:pt>
                <c:pt idx="4">
                  <c:v>83990621.84999992</c:v>
                </c:pt>
                <c:pt idx="5">
                  <c:v>84992101.149999961</c:v>
                </c:pt>
                <c:pt idx="6">
                  <c:v>87076079.260000005</c:v>
                </c:pt>
                <c:pt idx="7">
                  <c:v>87953649.780000076</c:v>
                </c:pt>
                <c:pt idx="8">
                  <c:v>91982417.480000004</c:v>
                </c:pt>
                <c:pt idx="9">
                  <c:v>93415797.689999893</c:v>
                </c:pt>
                <c:pt idx="10">
                  <c:v>90818539.1300001</c:v>
                </c:pt>
                <c:pt idx="11">
                  <c:v>91134823.049999908</c:v>
                </c:pt>
              </c:numCache>
            </c:numRef>
          </c:val>
          <c:smooth val="0"/>
          <c:extLst>
            <c:ext xmlns:c16="http://schemas.microsoft.com/office/drawing/2014/chart" uri="{C3380CC4-5D6E-409C-BE32-E72D297353CC}">
              <c16:uniqueId val="{00000002-FDC9-44F9-8F86-5F9A3B41EB56}"/>
            </c:ext>
          </c:extLst>
        </c:ser>
        <c:dLbls>
          <c:showLegendKey val="0"/>
          <c:showVal val="0"/>
          <c:showCatName val="0"/>
          <c:showSerName val="0"/>
          <c:showPercent val="0"/>
          <c:showBubbleSize val="0"/>
        </c:dLbls>
        <c:smooth val="0"/>
        <c:axId val="981550607"/>
        <c:axId val="981552527"/>
      </c:lineChart>
      <c:catAx>
        <c:axId val="9815506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8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981552527"/>
        <c:crosses val="autoZero"/>
        <c:auto val="1"/>
        <c:lblAlgn val="ctr"/>
        <c:lblOffset val="100"/>
        <c:noMultiLvlLbl val="0"/>
      </c:catAx>
      <c:valAx>
        <c:axId val="981552527"/>
        <c:scaling>
          <c:orientation val="minMax"/>
        </c:scaling>
        <c:delete val="1"/>
        <c:axPos val="l"/>
        <c:numFmt formatCode="0.0,,&quot;M&quot;" sourceLinked="1"/>
        <c:majorTickMark val="none"/>
        <c:minorTickMark val="none"/>
        <c:tickLblPos val="nextTo"/>
        <c:crossAx val="9815506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Pt>
            <c:idx val="4"/>
            <c:bubble3D val="0"/>
            <c:spPr>
              <a:solidFill>
                <a:schemeClr val="accent5"/>
              </a:solidFill>
              <a:ln w="19050">
                <a:solidFill>
                  <a:schemeClr val="lt1"/>
                </a:solidFill>
              </a:ln>
              <a:effectLst/>
            </c:spPr>
          </c:dPt>
          <c:dPt>
            <c:idx val="5"/>
            <c:bubble3D val="0"/>
            <c:spPr>
              <a:solidFill>
                <a:schemeClr val="accent6"/>
              </a:solidFill>
              <a:ln w="19050">
                <a:solidFill>
                  <a:schemeClr val="lt1"/>
                </a:solidFill>
              </a:ln>
              <a:effectLst/>
            </c:spPr>
          </c:dPt>
          <c:dPt>
            <c:idx val="6"/>
            <c:bubble3D val="0"/>
            <c:spPr>
              <a:solidFill>
                <a:schemeClr val="accent1">
                  <a:lumMod val="60000"/>
                </a:schemeClr>
              </a:solidFill>
              <a:ln w="19050">
                <a:solidFill>
                  <a:schemeClr val="lt1"/>
                </a:solidFill>
              </a:ln>
              <a:effectLst/>
            </c:spPr>
          </c:dPt>
          <c:cat>
            <c:strRef>
              <c:f>Sheet1!$A$2:$A$8</c:f>
              <c:strCache>
                <c:ptCount val="7"/>
                <c:pt idx="0">
                  <c:v>Cloud</c:v>
                </c:pt>
                <c:pt idx="1">
                  <c:v>Facilities</c:v>
                </c:pt>
                <c:pt idx="2">
                  <c:v>IT Services</c:v>
                </c:pt>
                <c:pt idx="3">
                  <c:v>Logistics</c:v>
                </c:pt>
                <c:pt idx="4">
                  <c:v>Marketing</c:v>
                </c:pt>
                <c:pt idx="5">
                  <c:v>Professional Services</c:v>
                </c:pt>
                <c:pt idx="6">
                  <c:v>Travel</c:v>
                </c:pt>
              </c:strCache>
            </c:strRef>
          </c:cat>
          <c:val>
            <c:numRef>
              <c:f>Sheet1!$B$2:$B$8</c:f>
              <c:numCache>
                <c:formatCode>0%</c:formatCode>
                <c:ptCount val="7"/>
                <c:pt idx="0">
                  <c:v>0.2646805016245577</c:v>
                </c:pt>
                <c:pt idx="1">
                  <c:v>0.11013609547397121</c:v>
                </c:pt>
                <c:pt idx="2">
                  <c:v>0.19263671440138386</c:v>
                </c:pt>
                <c:pt idx="3">
                  <c:v>9.8533871864204051E-2</c:v>
                </c:pt>
                <c:pt idx="4">
                  <c:v>0.10531423740603467</c:v>
                </c:pt>
                <c:pt idx="5">
                  <c:v>0.19492506437790191</c:v>
                </c:pt>
                <c:pt idx="6">
                  <c:v>3.37735148519464E-2</c:v>
                </c:pt>
              </c:numCache>
            </c:numRef>
          </c:val>
          <c:extLst>
            <c:ext xmlns:c16="http://schemas.microsoft.com/office/drawing/2014/chart" uri="{C3380CC4-5D6E-409C-BE32-E72D297353CC}">
              <c16:uniqueId val="{00000000-2D6E-4263-A502-4E6E5403C1D5}"/>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2/7/2026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10</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2/7/2026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2/7/2026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microsoft.com/office/2017/04/relationships/track" Target="../media/track1.vtt"/></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hyperlink" Target="https://go.microsoft.com/fwlink/?linkid=2235098" TargetMode="External"/><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go.microsoft.com/fwlink/?LinkId=617172" TargetMode="External"/><Relationship Id="rId5" Type="http://schemas.openxmlformats.org/officeDocument/2006/relationships/image" Target="../media/image16.png"/><Relationship Id="rId4" Type="http://schemas.openxmlformats.org/officeDocument/2006/relationships/hyperlink" Target="http://go.microsoft.com/fwlink/?LinkId=62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Welcome to PowerPoint</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5 tips for a simpler way to work</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Account Payable</a:t>
            </a:r>
          </a:p>
        </p:txBody>
      </p:sp>
      <p:graphicFrame>
        <p:nvGraphicFramePr>
          <p:cNvPr id="20" name="Chart 19">
            <a:extLst>
              <a:ext uri="{FF2B5EF4-FFF2-40B4-BE49-F238E27FC236}">
                <a16:creationId xmlns:a16="http://schemas.microsoft.com/office/drawing/2014/main" id="{92A86FE2-B00D-1C2F-A7C6-08D1ABAC57C9}"/>
              </a:ext>
            </a:extLst>
          </p:cNvPr>
          <p:cNvGraphicFramePr/>
          <p:nvPr>
            <p:extLst>
              <p:ext uri="{D42A27DB-BD31-4B8C-83A1-F6EECF244321}">
                <p14:modId xmlns:p14="http://schemas.microsoft.com/office/powerpoint/2010/main" val="1795761888"/>
              </p:ext>
            </p:extLst>
          </p:nvPr>
        </p:nvGraphicFramePr>
        <p:xfrm>
          <a:off x="521207" y="1605787"/>
          <a:ext cx="5436533" cy="38334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3" name="Chart 22">
            <a:extLst>
              <a:ext uri="{FF2B5EF4-FFF2-40B4-BE49-F238E27FC236}">
                <a16:creationId xmlns:a16="http://schemas.microsoft.com/office/drawing/2014/main" id="{D2C1D095-B574-17A0-1410-0B64833889CD}"/>
              </a:ext>
            </a:extLst>
          </p:cNvPr>
          <p:cNvGraphicFramePr/>
          <p:nvPr>
            <p:extLst>
              <p:ext uri="{D42A27DB-BD31-4B8C-83A1-F6EECF244321}">
                <p14:modId xmlns:p14="http://schemas.microsoft.com/office/powerpoint/2010/main" val="1500777077"/>
              </p:ext>
            </p:extLst>
          </p:nvPr>
        </p:nvGraphicFramePr>
        <p:xfrm>
          <a:off x="5957740" y="1399882"/>
          <a:ext cx="5740923" cy="403938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031-0E14-8C15-F127-F38A43BAE19F}"/>
              </a:ext>
            </a:extLst>
          </p:cNvPr>
          <p:cNvSpPr>
            <a:spLocks noGrp="1"/>
          </p:cNvSpPr>
          <p:nvPr>
            <p:ph type="title"/>
          </p:nvPr>
        </p:nvSpPr>
        <p:spPr/>
        <p:txBody>
          <a:bodyPr/>
          <a:lstStyle/>
          <a:p>
            <a:endParaRPr lang="en-IN"/>
          </a:p>
        </p:txBody>
      </p:sp>
      <p:graphicFrame>
        <p:nvGraphicFramePr>
          <p:cNvPr id="9" name="Chart 8">
            <a:extLst>
              <a:ext uri="{FF2B5EF4-FFF2-40B4-BE49-F238E27FC236}">
                <a16:creationId xmlns:a16="http://schemas.microsoft.com/office/drawing/2014/main" id="{1CBA783A-5A79-079F-AF3E-409B6181B5A0}"/>
              </a:ext>
            </a:extLst>
          </p:cNvPr>
          <p:cNvGraphicFramePr/>
          <p:nvPr>
            <p:extLst>
              <p:ext uri="{D42A27DB-BD31-4B8C-83A1-F6EECF244321}">
                <p14:modId xmlns:p14="http://schemas.microsoft.com/office/powerpoint/2010/main" val="1491428774"/>
              </p:ext>
            </p:extLst>
          </p:nvPr>
        </p:nvGraphicFramePr>
        <p:xfrm>
          <a:off x="-213360" y="1664547"/>
          <a:ext cx="5669280" cy="44720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92337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How to use PowerPoint Designer</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How it works:</a:t>
            </a:r>
          </a:p>
        </p:txBody>
      </p:sp>
      <p:grpSp>
        <p:nvGrpSpPr>
          <p:cNvPr id="18" name="Group 17" descr="Small circle with number 1 inside  indicating step 1"/>
          <p:cNvGrpSpPr/>
          <p:nvPr/>
        </p:nvGrpSpPr>
        <p:grpSpPr bwMode="blackWhite">
          <a:xfrm>
            <a:off x="531552" y="191799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6513" y="1958189"/>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Start a new presentation by going to </a:t>
            </a:r>
            <a:r>
              <a:rPr lang="en-US" dirty="0">
                <a:solidFill>
                  <a:srgbClr val="D24726"/>
                </a:solidFill>
                <a:latin typeface="Segoe UI Semibold" panose="020B0702040204020203" pitchFamily="34" charset="0"/>
                <a:cs typeface="Segoe UI Semibold" panose="020B0702040204020203" pitchFamily="34" charset="0"/>
              </a:rPr>
              <a:t>File</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New</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Blank</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Presentation</a:t>
            </a:r>
            <a:r>
              <a:rPr lang="en-US" dirty="0">
                <a:solidFill>
                  <a:prstClr val="black">
                    <a:lumMod val="75000"/>
                    <a:lumOff val="25000"/>
                  </a:prstClr>
                </a:solidFill>
                <a:cs typeface="Segoe UI"/>
              </a:rPr>
              <a:t>.</a:t>
            </a:r>
          </a:p>
        </p:txBody>
      </p:sp>
      <p:grpSp>
        <p:nvGrpSpPr>
          <p:cNvPr id="33" name="Group 32" descr="Small circle with number 2 inside  indicating step 2"/>
          <p:cNvGrpSpPr/>
          <p:nvPr/>
        </p:nvGrpSpPr>
        <p:grpSpPr bwMode="blackWhite">
          <a:xfrm>
            <a:off x="531552" y="2804257"/>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56513" y="2844450"/>
            <a:ext cx="4504252" cy="10658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On the very first slide, add a picture: Go to</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or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Online</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a:t>
            </a:r>
            <a:r>
              <a:rPr lang="en-US" dirty="0">
                <a:solidFill>
                  <a:prstClr val="black">
                    <a:lumMod val="75000"/>
                    <a:lumOff val="25000"/>
                  </a:prstClr>
                </a:solidFill>
                <a:latin typeface="Segoe UI" panose="020B0502040204020203" pitchFamily="34" charset="0"/>
                <a:cs typeface="Segoe UI" panose="020B0502040204020203" pitchFamily="34" charset="0"/>
              </a:rPr>
              <a:t>and choose the picture.</a:t>
            </a:r>
            <a:br>
              <a:rPr lang="en-US" dirty="0">
                <a:solidFill>
                  <a:prstClr val="black">
                    <a:lumMod val="75000"/>
                    <a:lumOff val="25000"/>
                  </a:prstClr>
                </a:solidFill>
                <a:latin typeface="Segoe UI" panose="020B0502040204020203" pitchFamily="34" charset="0"/>
                <a:cs typeface="Segoe UI" panose="020B0502040204020203" pitchFamily="34" charset="0"/>
              </a:rPr>
            </a:br>
            <a:br>
              <a:rPr lang="en-US" dirty="0">
                <a:solidFill>
                  <a:prstClr val="black">
                    <a:lumMod val="75000"/>
                    <a:lumOff val="25000"/>
                  </a:prstClr>
                </a:solidFill>
                <a:cs typeface="Segoe UI"/>
              </a:rPr>
            </a:b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prstClr val="black">
                    <a:lumMod val="75000"/>
                    <a:lumOff val="25000"/>
                  </a:prstClr>
                </a:solidFill>
                <a:latin typeface="Segoe UI" panose="020B0502040204020203" pitchFamily="34" charset="0"/>
                <a:cs typeface="Segoe UI" panose="020B0502040204020203" pitchFamily="34" charset="0"/>
              </a:rPr>
              <a:t>You need to be online when you add the picture.</a:t>
            </a:r>
          </a:p>
        </p:txBody>
      </p:sp>
      <p:grpSp>
        <p:nvGrpSpPr>
          <p:cNvPr id="22" name="Group 21" descr="Small circle with number 3 inside  indicating step 3"/>
          <p:cNvGrpSpPr/>
          <p:nvPr/>
        </p:nvGrpSpPr>
        <p:grpSpPr bwMode="blackWhite">
          <a:xfrm>
            <a:off x="531552" y="4208299"/>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6513" y="4236460"/>
            <a:ext cx="4504252"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When PowerPoint asks your permission to get design ideas,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Let's Go</a:t>
            </a:r>
            <a:r>
              <a:rPr lang="en-US" dirty="0">
                <a:solidFill>
                  <a:prstClr val="black">
                    <a:lumMod val="75000"/>
                    <a:lumOff val="25000"/>
                  </a:prstClr>
                </a:solidFill>
                <a:cs typeface="Segoe UI"/>
              </a:rPr>
              <a:t>.</a:t>
            </a:r>
          </a:p>
        </p:txBody>
      </p:sp>
      <p:grpSp>
        <p:nvGrpSpPr>
          <p:cNvPr id="37" name="Group 36" descr="Small circle with number 4 inside  indicating step 4"/>
          <p:cNvGrpSpPr/>
          <p:nvPr/>
        </p:nvGrpSpPr>
        <p:grpSpPr bwMode="blackWhite">
          <a:xfrm>
            <a:off x="531552" y="5137379"/>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56513" y="517757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Choose a design you like from the </a:t>
            </a:r>
            <a:r>
              <a:rPr lang="en-US" dirty="0">
                <a:solidFill>
                  <a:srgbClr val="D24726"/>
                </a:solidFill>
                <a:latin typeface="Segoe UI Semibold" panose="020B0702040204020203" pitchFamily="34" charset="0"/>
                <a:cs typeface="Segoe UI Semibold" panose="020B0702040204020203" pitchFamily="34" charset="0"/>
              </a:rPr>
              <a:t>Design Ideas </a:t>
            </a:r>
            <a:r>
              <a:rPr lang="en-US" dirty="0">
                <a:solidFill>
                  <a:prstClr val="black">
                    <a:lumMod val="75000"/>
                    <a:lumOff val="25000"/>
                  </a:prstClr>
                </a:solidFill>
                <a:latin typeface="Segoe UI" panose="020B0502040204020203" pitchFamily="34" charset="0"/>
                <a:cs typeface="Segoe UI" panose="020B0502040204020203" pitchFamily="34" charset="0"/>
              </a:rPr>
              <a:t>task pane.</a:t>
            </a:r>
          </a:p>
        </p:txBody>
      </p:sp>
      <p:pic>
        <p:nvPicPr>
          <p:cNvPr id="29" name="Picture 28" descr="Insert tab with option to insert pic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200" y="1455791"/>
            <a:ext cx="2795082" cy="1592728"/>
          </a:xfrm>
          <a:prstGeom prst="rect">
            <a:avLst/>
          </a:prstGeom>
        </p:spPr>
      </p:pic>
      <p:pic>
        <p:nvPicPr>
          <p:cNvPr id="23" name="Picture 22" descr="Design ideas dialog box asking for user confirmation to get design idea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3033" y="3067244"/>
            <a:ext cx="2900887" cy="3506681"/>
          </a:xfrm>
          <a:prstGeom prst="rect">
            <a:avLst/>
          </a:prstGeom>
        </p:spPr>
      </p:pic>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Morph</a:t>
            </a:r>
          </a:p>
        </p:txBody>
      </p:sp>
      <p:sp>
        <p:nvSpPr>
          <p:cNvPr id="5" name="Content Placeholder 4"/>
          <p:cNvSpPr>
            <a:spLocks noGrp="1"/>
          </p:cNvSpPr>
          <p:nvPr>
            <p:ph sz="half" idx="4294967295"/>
          </p:nvPr>
        </p:nvSpPr>
        <p:spPr>
          <a:xfrm>
            <a:off x="541610" y="1431010"/>
            <a:ext cx="4557164" cy="4790886"/>
          </a:xfrm>
        </p:spPr>
        <p:txBody>
          <a:bodyPr vert="horz" lIns="91440" tIns="45720" rIns="91440" bIns="45720" rtlCol="0">
            <a:normAutofit/>
          </a:bodyPr>
          <a:lstStyle/>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makes smooth animations and object movements in your presentation. You use two similar slides to perform the animation, but it looks to your audience like the action happens on one slide. </a:t>
            </a:r>
          </a:p>
          <a:p>
            <a:pPr marL="0" indent="0">
              <a:lnSpc>
                <a:spcPts val="1800"/>
              </a:lnSpc>
              <a:spcBef>
                <a:spcPts val="1000"/>
              </a:spcBef>
              <a:spcAft>
                <a:spcPts val="600"/>
              </a:spcAft>
              <a:buNone/>
            </a:pPr>
            <a:r>
              <a:rPr lang="en-US" sz="1200" b="1" dirty="0">
                <a:solidFill>
                  <a:srgbClr val="D24726"/>
                </a:solidFill>
                <a:latin typeface="Segoe UI" panose="020B0502040204020203" pitchFamily="34" charset="0"/>
                <a:cs typeface="Segoe UI" panose="020B0502040204020203" pitchFamily="34" charset="0"/>
              </a:rPr>
              <a:t>Play</a:t>
            </a:r>
            <a:r>
              <a:rPr lang="en-US" sz="1200" dirty="0">
                <a:solidFill>
                  <a:prstClr val="black">
                    <a:lumMod val="75000"/>
                    <a:lumOff val="25000"/>
                  </a:prstClr>
                </a:solidFill>
                <a:latin typeface="Segoe UI" panose="020B0502040204020203" pitchFamily="34" charset="0"/>
                <a:cs typeface="Segoe UI" panose="020B0502040204020203" pitchFamily="34" charset="0"/>
              </a:rPr>
              <a:t> the video on the right to see a quick example.</a:t>
            </a:r>
          </a:p>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is a subscription-only feature. If you have an Office 365 subscription, you can try it yourself with the steps on the next slide.</a:t>
            </a:r>
          </a:p>
          <a:p>
            <a:pPr marL="0" indent="0">
              <a:lnSpc>
                <a:spcPts val="1800"/>
              </a:lnSpc>
              <a:spcBef>
                <a:spcPts val="1000"/>
              </a:spcBef>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7" name="Morph video" descr="Video showing an example of the Morph feature which can be played or paused using the short-key Alt+P">
            <a:hlinkClick r:id="" action="ppaction://media"/>
            <a:extLst>
              <a:ext uri="{FF2B5EF4-FFF2-40B4-BE49-F238E27FC236}">
                <a16:creationId xmlns:a16="http://schemas.microsoft.com/office/drawing/2014/main" id="{9F029C1A-F15A-44BF-996A-1F59B3110D78}"/>
              </a:ext>
            </a:extLst>
          </p:cNvPr>
          <p:cNvPicPr>
            <a:picLocks noGrp="1" noChangeAspect="1"/>
          </p:cNvPicPr>
          <p:nvPr>
            <p:ph sz="quarter" idx="10"/>
            <a:videoFile r:link="rId2"/>
            <p:extLst>
              <p:ext uri="{DAA4B4D4-6D71-4841-9C94-3DE7FCFB9230}">
                <p14:media xmlns:p14="http://schemas.microsoft.com/office/powerpoint/2010/main" r:embed="rId1">
                  <p14:extLst>
                    <p:ext uri="{3AFAAA56-56D3-431D-BCD4-E75A35582382}">
                      <p173:tracksInfo xmlns:p173="http://schemas.microsoft.com/office/powerpoint/2017/3/main" displayLoc="media">
                        <p173:trackLst>
                          <p173:track id="{7D80394A-61EE-4513-90D2-E9A3DA581656}" label="caption" lang="" r:embed="rId4"/>
                        </p173:trackLst>
                      </p173:tracksInfo>
                    </p:ext>
                  </p14:extLst>
                </p14:media>
              </p:ext>
            </p:extLst>
          </p:nvPr>
        </p:nvPicPr>
        <p:blipFill>
          <a:blip r:embed="rId5"/>
          <a:stretch>
            <a:fillRect/>
          </a:stretch>
        </p:blipFill>
        <p:spPr>
          <a:xfrm>
            <a:off x="5418759" y="1540565"/>
            <a:ext cx="6110288" cy="3438525"/>
          </a:xfr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Setting up </a:t>
            </a:r>
            <a:r>
              <a:rPr lang="en-US" dirty="0">
                <a:latin typeface="Segoe UI Light" panose="020B0502040204020203" pitchFamily="34" charset="0"/>
                <a:cs typeface="Segoe UI Light" panose="020B0502040204020203" pitchFamily="34" charset="0"/>
              </a:rPr>
              <a:t>Morph</a:t>
            </a:r>
          </a:p>
        </p:txBody>
      </p:sp>
      <p:sp>
        <p:nvSpPr>
          <p:cNvPr id="30"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t>Try it yourself with these two simple “planets”:</a:t>
            </a:r>
          </a:p>
        </p:txBody>
      </p:sp>
      <p:grpSp>
        <p:nvGrpSpPr>
          <p:cNvPr id="13" name="Group 12" descr="Small circle with number 1 inside  indicating step 1"/>
          <p:cNvGrpSpPr/>
          <p:nvPr/>
        </p:nvGrpSpPr>
        <p:grpSpPr bwMode="blackWhite">
          <a:xfrm>
            <a:off x="558723" y="1917997"/>
            <a:ext cx="558179" cy="409838"/>
            <a:chOff x="6953426" y="711274"/>
            <a:chExt cx="558179" cy="409838"/>
          </a:xfrm>
        </p:grpSpPr>
        <p:sp>
          <p:nvSpPr>
            <p:cNvPr id="14" name="Oval 1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16" name="Content Placeholder 17"/>
          <p:cNvSpPr txBox="1">
            <a:spLocks/>
          </p:cNvSpPr>
          <p:nvPr/>
        </p:nvSpPr>
        <p:spPr>
          <a:xfrm>
            <a:off x="1066040" y="1958189"/>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Duplicate this slide: Right-click the slide thumbnail and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Duplicate Slide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18" name="Group 17" descr="Small circle with number 2 inside  indicating step 2"/>
          <p:cNvGrpSpPr/>
          <p:nvPr/>
        </p:nvGrpSpPr>
        <p:grpSpPr bwMode="blackWhite">
          <a:xfrm>
            <a:off x="558723" y="2896735"/>
            <a:ext cx="558179" cy="409838"/>
            <a:chOff x="6953426" y="711274"/>
            <a:chExt cx="558179" cy="409838"/>
          </a:xfrm>
        </p:grpSpPr>
        <p:sp>
          <p:nvSpPr>
            <p:cNvPr id="23" name="Oval 22"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5" name="Content Placeholder 17"/>
          <p:cNvSpPr txBox="1">
            <a:spLocks/>
          </p:cNvSpPr>
          <p:nvPr/>
        </p:nvSpPr>
        <p:spPr>
          <a:xfrm>
            <a:off x="1066038" y="2936927"/>
            <a:ext cx="2651153" cy="145610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In the second of these two identical slides, change the shapes on the right in some way (move, resize, change color), then go to </a:t>
            </a:r>
            <a:r>
              <a:rPr lang="en-US" dirty="0">
                <a:solidFill>
                  <a:srgbClr val="D24726"/>
                </a:solidFill>
                <a:latin typeface="Segoe UI Semibold" panose="020B0702040204020203" pitchFamily="34" charset="0"/>
                <a:cs typeface="Segoe UI Semibold" panose="020B0702040204020203" pitchFamily="34" charset="0"/>
              </a:rPr>
              <a:t>Transitions</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26" name="Group 25" descr="Small circle with number 3 inside  indicating step 3"/>
          <p:cNvGrpSpPr/>
          <p:nvPr/>
        </p:nvGrpSpPr>
        <p:grpSpPr bwMode="blackWhite">
          <a:xfrm>
            <a:off x="557319" y="4344232"/>
            <a:ext cx="558179" cy="409838"/>
            <a:chOff x="6953426" y="711274"/>
            <a:chExt cx="558179" cy="409838"/>
          </a:xfrm>
        </p:grpSpPr>
        <p:sp>
          <p:nvSpPr>
            <p:cNvPr id="27" name="Oval 2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29" name="Content Placeholder 17"/>
          <p:cNvSpPr txBox="1">
            <a:spLocks/>
          </p:cNvSpPr>
          <p:nvPr/>
        </p:nvSpPr>
        <p:spPr>
          <a:xfrm>
            <a:off x="1076799" y="4360521"/>
            <a:ext cx="2784602"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Return to the first of the two slides and press</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Slide Show </a:t>
            </a:r>
            <a:r>
              <a:rPr lang="en-US" dirty="0">
                <a:solidFill>
                  <a:prstClr val="black">
                    <a:lumMod val="75000"/>
                    <a:lumOff val="25000"/>
                  </a:prstClr>
                </a:solidFill>
                <a:latin typeface="Segoe UI" panose="020B0502040204020203" pitchFamily="34" charset="0"/>
                <a:cs typeface="Segoe UI" panose="020B0502040204020203" pitchFamily="34" charset="0"/>
              </a:rPr>
              <a:t>button and then select</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Play</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to see your circle morph!</a:t>
            </a:r>
          </a:p>
        </p:txBody>
      </p:sp>
      <p:sp>
        <p:nvSpPr>
          <p:cNvPr id="17" name="Content Placeholder 17"/>
          <p:cNvSpPr txBox="1">
            <a:spLocks/>
          </p:cNvSpPr>
          <p:nvPr/>
        </p:nvSpPr>
        <p:spPr>
          <a:xfrm>
            <a:off x="628962" y="5832234"/>
            <a:ext cx="3449878" cy="69290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srgbClr val="404040"/>
                </a:solidFill>
                <a:latin typeface="Segoe UI Semibold" panose="020B0702040204020203" pitchFamily="34" charset="0"/>
                <a:cs typeface="Segoe UI Semibold" panose="020B0702040204020203" pitchFamily="34" charset="0"/>
              </a:rPr>
              <a:t>Effect Options </a:t>
            </a:r>
            <a:r>
              <a:rPr lang="en-US" dirty="0">
                <a:solidFill>
                  <a:prstClr val="black">
                    <a:lumMod val="75000"/>
                    <a:lumOff val="25000"/>
                  </a:prstClr>
                </a:solidFill>
                <a:latin typeface="Segoe UI" panose="020B0502040204020203" pitchFamily="34" charset="0"/>
                <a:cs typeface="Segoe UI" panose="020B0502040204020203" pitchFamily="34" charset="0"/>
              </a:rPr>
              <a:t>gives you even more options for</a:t>
            </a:r>
            <a:r>
              <a:rPr lang="en-US" dirty="0">
                <a:solidFill>
                  <a:prstClr val="black">
                    <a:lumMod val="75000"/>
                    <a:lumOff val="25000"/>
                  </a:prstClr>
                </a:solidFill>
              </a:rPr>
              <a:t> </a:t>
            </a:r>
            <a:r>
              <a:rPr lang="en-US" dirty="0">
                <a:solidFill>
                  <a:prstClr val="black">
                    <a:lumMod val="75000"/>
                    <a:lumOff val="25000"/>
                  </a:prstClr>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rPr>
              <a:t>.</a:t>
            </a:r>
          </a:p>
        </p:txBody>
      </p:sp>
      <p:pic>
        <p:nvPicPr>
          <p:cNvPr id="2" name="Picture 1" descr="Slide thumbnail context menu showing the Duplicate Slide opti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5391" y="1455491"/>
            <a:ext cx="1402148" cy="1803887"/>
          </a:xfrm>
          <a:prstGeom prst="rect">
            <a:avLst/>
          </a:prstGeom>
        </p:spPr>
      </p:pic>
      <p:pic>
        <p:nvPicPr>
          <p:cNvPr id="6" name="Picture 5" descr="Transition tab showing morph transiti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83896" y="3159609"/>
            <a:ext cx="2468760" cy="1185923"/>
          </a:xfrm>
          <a:prstGeom prst="rect">
            <a:avLst/>
          </a:prstGeom>
        </p:spPr>
      </p:pic>
      <p:pic>
        <p:nvPicPr>
          <p:cNvPr id="5" name="Picture 4" descr="Slide Show butto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7079" y="4344232"/>
            <a:ext cx="2134319" cy="887084"/>
          </a:xfrm>
          <a:prstGeom prst="rect">
            <a:avLst/>
          </a:prstGeom>
        </p:spPr>
      </p:pic>
      <p:cxnSp>
        <p:nvCxnSpPr>
          <p:cNvPr id="20" name="Straight Connector 19">
            <a:extLst>
              <a:ext uri="{C183D7F6-B498-43B3-948B-1728B52AA6E4}">
                <adec:decorative xmlns:adec="http://schemas.microsoft.com/office/drawing/2017/decorative" val="1"/>
              </a:ext>
            </a:extLst>
          </p:cNvPr>
          <p:cNvCxnSpPr/>
          <p:nvPr/>
        </p:nvCxnSpPr>
        <p:spPr>
          <a:xfrm>
            <a:off x="6296866" y="1472431"/>
            <a:ext cx="0" cy="4892634"/>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 name="Oval 9" descr="Large, blue circle with a small light blue circle inside"/>
          <p:cNvSpPr/>
          <p:nvPr/>
        </p:nvSpPr>
        <p:spPr>
          <a:xfrm>
            <a:off x="7236525" y="1944862"/>
            <a:ext cx="3827244" cy="37432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1" name="Oval 10" descr="Small light blue circle inside a large dark blue circle"/>
          <p:cNvSpPr/>
          <p:nvPr/>
        </p:nvSpPr>
        <p:spPr bwMode="ltGray">
          <a:xfrm>
            <a:off x="8086223" y="2796642"/>
            <a:ext cx="2148929" cy="210175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596833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Segoe UI Light" panose="020B0502040204020203" pitchFamily="34" charset="0"/>
                <a:cs typeface="Segoe UI Light" panose="020B0502040204020203" pitchFamily="34" charset="0"/>
              </a:rPr>
              <a:t>Working together in real time</a:t>
            </a:r>
          </a:p>
        </p:txBody>
      </p:sp>
      <p:sp>
        <p:nvSpPr>
          <p:cNvPr id="5" name="Content Placeholder 4"/>
          <p:cNvSpPr>
            <a:spLocks noGrp="1"/>
          </p:cNvSpPr>
          <p:nvPr>
            <p:ph sz="half" idx="4294967295"/>
          </p:nvPr>
        </p:nvSpPr>
        <p:spPr>
          <a:xfrm>
            <a:off x="541611" y="1431010"/>
            <a:ext cx="4413626" cy="3978275"/>
          </a:xfrm>
        </p:spPr>
        <p:txBody>
          <a:bodyPr vert="horz" lIns="91440" tIns="45720" rIns="91440" bIns="45720" rtlCol="0">
            <a:normAutofit/>
          </a:bodyPr>
          <a:lstStyle/>
          <a:p>
            <a:pPr marL="0" indent="0">
              <a:lnSpc>
                <a:spcPts val="1800"/>
              </a:lnSpc>
              <a:spcBef>
                <a:spcPts val="1000"/>
              </a:spcBef>
              <a:spcAft>
                <a:spcPts val="20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When you share your presentation with others, you’ll see them working with you at the same time. </a:t>
            </a:r>
            <a:br>
              <a:rPr lang="en-US" sz="1200" dirty="0">
                <a:solidFill>
                  <a:prstClr val="black">
                    <a:lumMod val="75000"/>
                    <a:lumOff val="25000"/>
                  </a:prstClr>
                </a:solidFill>
                <a:latin typeface="Segoe UI" panose="020B0502040204020203" pitchFamily="34" charset="0"/>
                <a:cs typeface="Segoe UI" panose="020B0502040204020203" pitchFamily="34" charset="0"/>
              </a:rPr>
            </a:b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How it works:</a:t>
            </a:r>
          </a:p>
        </p:txBody>
      </p:sp>
      <p:pic>
        <p:nvPicPr>
          <p:cNvPr id="11" name="Picture 10" descr="Share icon showing number of people  working on the presentatio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84" y="2425111"/>
            <a:ext cx="3262550" cy="1475660"/>
          </a:xfrm>
          <a:prstGeom prst="rect">
            <a:avLst/>
          </a:prstGeom>
        </p:spPr>
      </p:pic>
      <p:grpSp>
        <p:nvGrpSpPr>
          <p:cNvPr id="33" name="Group 32" descr="Small circle with number 1 inside indicating step 1"/>
          <p:cNvGrpSpPr/>
          <p:nvPr/>
        </p:nvGrpSpPr>
        <p:grpSpPr bwMode="blackWhite">
          <a:xfrm>
            <a:off x="558723" y="4531632"/>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9" y="4571824"/>
            <a:ext cx="2696774" cy="99258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D24726"/>
                </a:solidFill>
                <a:latin typeface="Segoe UI" panose="020B0502040204020203" pitchFamily="34" charset="0"/>
                <a:cs typeface="Segoe UI" panose="020B0502040204020203" pitchFamily="34" charset="0"/>
              </a:rPr>
              <a:t>Share</a:t>
            </a:r>
            <a:r>
              <a:rPr lang="en-US" dirty="0">
                <a:solidFill>
                  <a:prstClr val="black">
                    <a:lumMod val="75000"/>
                    <a:lumOff val="25000"/>
                  </a:prstClr>
                </a:solidFill>
                <a:latin typeface="Segoe UI" panose="020B0502040204020203" pitchFamily="34" charset="0"/>
                <a:cs typeface="Segoe UI" panose="020B0502040204020203" pitchFamily="34" charset="0"/>
              </a:rPr>
              <a:t> from above the ribbon, or by using </a:t>
            </a:r>
            <a:r>
              <a:rPr lang="en-US">
                <a:solidFill>
                  <a:prstClr val="black">
                    <a:lumMod val="75000"/>
                    <a:lumOff val="25000"/>
                  </a:prstClr>
                </a:solidFill>
                <a:latin typeface="Segoe UI" panose="020B0502040204020203" pitchFamily="34" charset="0"/>
                <a:cs typeface="Segoe UI" panose="020B0502040204020203" pitchFamily="34" charset="0"/>
              </a:rPr>
              <a:t>short-key </a:t>
            </a:r>
            <a:r>
              <a:rPr lang="en-US">
                <a:solidFill>
                  <a:srgbClr val="D24726"/>
                </a:solidFill>
                <a:latin typeface="Segoe UI" panose="020B0502040204020203" pitchFamily="34" charset="0"/>
                <a:cs typeface="Segoe UI" panose="020B0502040204020203" pitchFamily="34" charset="0"/>
              </a:rPr>
              <a:t>Alt-ZS</a:t>
            </a:r>
            <a:r>
              <a:rPr lang="en-US">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to invite people to work with you (You can save to the cloud at this point.)</a:t>
            </a:r>
          </a:p>
        </p:txBody>
      </p:sp>
      <p:pic>
        <p:nvPicPr>
          <p:cNvPr id="9" name="Picture 8" descr="Marker showing who is working on a slid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1352" y="2434307"/>
            <a:ext cx="3841692" cy="2512928"/>
          </a:xfrm>
          <a:prstGeom prst="rect">
            <a:avLst/>
          </a:prstGeom>
        </p:spPr>
      </p:pic>
      <p:grpSp>
        <p:nvGrpSpPr>
          <p:cNvPr id="36" name="Group 35" descr="Small circle with number 2 inside indicating step 2"/>
          <p:cNvGrpSpPr/>
          <p:nvPr/>
        </p:nvGrpSpPr>
        <p:grpSpPr bwMode="blackWhite">
          <a:xfrm>
            <a:off x="4249102" y="4531632"/>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4571824"/>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other people are in the presentation, a marker shows who is on which slide…</a:t>
            </a:r>
          </a:p>
        </p:txBody>
      </p:sp>
      <p:pic>
        <p:nvPicPr>
          <p:cNvPr id="12" name="Picture 11" descr="Maker showing the part of the slide being edi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9419" y="2350394"/>
            <a:ext cx="3563782" cy="2305344"/>
          </a:xfrm>
          <a:prstGeom prst="rect">
            <a:avLst/>
          </a:prstGeom>
        </p:spPr>
      </p:pic>
      <p:grpSp>
        <p:nvGrpSpPr>
          <p:cNvPr id="39" name="Group 38" descr="Small circle with number 3 inside  indicating step 3"/>
          <p:cNvGrpSpPr/>
          <p:nvPr/>
        </p:nvGrpSpPr>
        <p:grpSpPr bwMode="blackWhite">
          <a:xfrm>
            <a:off x="7930921" y="4531632"/>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4571824"/>
            <a:ext cx="2658635" cy="69776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…and the part of the slide they're editing.</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You’re an expert with Tell Me</a:t>
            </a:r>
          </a:p>
        </p:txBody>
      </p:sp>
      <p:sp>
        <p:nvSpPr>
          <p:cNvPr id="38" name="Content Placeholder 17"/>
          <p:cNvSpPr txBox="1">
            <a:spLocks/>
          </p:cNvSpPr>
          <p:nvPr/>
        </p:nvSpPr>
        <p:spPr>
          <a:xfrm>
            <a:off x="541609" y="1296100"/>
            <a:ext cx="511016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Tell Me box finds the right command when you need it,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so you can save time and focus on your work.</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grpSp>
        <p:nvGrpSpPr>
          <p:cNvPr id="4" name="Group 3" descr="Small circle with number 1 inside  indicating step 1"/>
          <p:cNvGrpSpPr/>
          <p:nvPr/>
        </p:nvGrpSpPr>
        <p:grpSpPr bwMode="blackWhite">
          <a:xfrm>
            <a:off x="558723" y="2638502"/>
            <a:ext cx="558179" cy="409838"/>
            <a:chOff x="6953426" y="711274"/>
            <a:chExt cx="558179" cy="409838"/>
          </a:xfrm>
        </p:grpSpPr>
        <p:sp>
          <p:nvSpPr>
            <p:cNvPr id="2" name="Oval 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9" name="Content Placeholder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a:lnSpc>
                <a:spcPct val="100000"/>
              </a:lnSpc>
              <a:spcBef>
                <a:spcPts val="0"/>
              </a:spcBef>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404040"/>
                </a:solidFill>
                <a:latin typeface="Segoe UI" panose="020B0502040204020203" pitchFamily="34" charset="0"/>
                <a:cs typeface="Segoe UI" panose="020B0502040204020203" pitchFamily="34" charset="0"/>
              </a:rPr>
              <a:t>the Robot picture </a:t>
            </a:r>
            <a:r>
              <a:rPr lang="en-US" dirty="0">
                <a:solidFill>
                  <a:prstClr val="black">
                    <a:lumMod val="75000"/>
                    <a:lumOff val="25000"/>
                  </a:prstClr>
                </a:solidFill>
                <a:latin typeface="Segoe UI" panose="020B0502040204020203" pitchFamily="34" charset="0"/>
                <a:cs typeface="Segoe UI" panose="020B0502040204020203" pitchFamily="34" charset="0"/>
              </a:rPr>
              <a:t>on the right.</a:t>
            </a:r>
          </a:p>
        </p:txBody>
      </p:sp>
      <p:grpSp>
        <p:nvGrpSpPr>
          <p:cNvPr id="19" name="Group 18" descr="Small circle with number 2 inside  indicating step 2"/>
          <p:cNvGrpSpPr/>
          <p:nvPr/>
        </p:nvGrpSpPr>
        <p:grpSpPr bwMode="blackWhite">
          <a:xfrm>
            <a:off x="558723" y="3312993"/>
            <a:ext cx="558179" cy="409838"/>
            <a:chOff x="6953426" y="711274"/>
            <a:chExt cx="558179" cy="409838"/>
          </a:xfrm>
        </p:grpSpPr>
        <p:sp>
          <p:nvSpPr>
            <p:cNvPr id="20" name="Oval 1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2" name="Content Placeholder 17"/>
          <p:cNvSpPr txBox="1">
            <a:spLocks/>
          </p:cNvSpPr>
          <p:nvPr/>
        </p:nvSpPr>
        <p:spPr>
          <a:xfrm>
            <a:off x="1066039" y="3353185"/>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lumMod val="75000"/>
                    <a:lumOff val="25000"/>
                  </a:prstClr>
                </a:solidFill>
                <a:latin typeface="Segoe UI" panose="020B0502040204020203" pitchFamily="34" charset="0"/>
                <a:cs typeface="Segoe UI" panose="020B0502040204020203" pitchFamily="34" charset="0"/>
              </a:rPr>
              <a:t>Type</a:t>
            </a:r>
            <a:r>
              <a:rPr lang="en-US" dirty="0">
                <a:solidFill>
                  <a:prstClr val="black">
                    <a:lumMod val="75000"/>
                    <a:lumOff val="25000"/>
                  </a:prstClr>
                </a:solidFill>
              </a:rPr>
              <a:t> </a:t>
            </a:r>
            <a:r>
              <a:rPr lang="en-US" i="1" dirty="0">
                <a:solidFill>
                  <a:srgbClr val="D24726"/>
                </a:solidFill>
                <a:latin typeface="Segoe UI" panose="020B0502040204020203" pitchFamily="34" charset="0"/>
                <a:cs typeface="Segoe UI" panose="020B0502040204020203" pitchFamily="34" charset="0"/>
              </a:rPr>
              <a:t>animation</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in the </a:t>
            </a:r>
            <a:r>
              <a:rPr lang="en-US" dirty="0">
                <a:solidFill>
                  <a:srgbClr val="D24726"/>
                </a:solidFill>
                <a:latin typeface="Segoe UI Semibold" panose="020B0702040204020203" pitchFamily="34" charset="0"/>
                <a:cs typeface="Segoe UI Semibold" panose="020B0702040204020203" pitchFamily="34" charset="0"/>
              </a:rPr>
              <a:t>Tell Me </a:t>
            </a:r>
            <a:r>
              <a:rPr lang="en-US" dirty="0">
                <a:solidFill>
                  <a:prstClr val="black">
                    <a:lumMod val="75000"/>
                    <a:lumOff val="25000"/>
                  </a:prstClr>
                </a:solidFill>
                <a:latin typeface="Segoe UI" panose="020B0502040204020203" pitchFamily="34" charset="0"/>
                <a:cs typeface="Segoe UI" panose="020B0502040204020203" pitchFamily="34" charset="0"/>
              </a:rPr>
              <a:t>box, and then choose </a:t>
            </a:r>
            <a:r>
              <a:rPr lang="en-US" dirty="0">
                <a:solidFill>
                  <a:srgbClr val="D24726"/>
                </a:solidFill>
                <a:latin typeface="Segoe UI Semibold" panose="020B0702040204020203" pitchFamily="34" charset="0"/>
                <a:cs typeface="Segoe UI Semibold" panose="020B0702040204020203" pitchFamily="34" charset="0"/>
              </a:rPr>
              <a:t>Add Animation</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31" name="Group 30" descr="Small circle with number 3 inside  indicating step 3"/>
          <p:cNvGrpSpPr/>
          <p:nvPr/>
        </p:nvGrpSpPr>
        <p:grpSpPr bwMode="blackWhite">
          <a:xfrm>
            <a:off x="557319" y="4263506"/>
            <a:ext cx="558179" cy="409838"/>
            <a:chOff x="6953426" y="711274"/>
            <a:chExt cx="558179" cy="409838"/>
          </a:xfrm>
        </p:grpSpPr>
        <p:sp>
          <p:nvSpPr>
            <p:cNvPr id="32" name="Oval 3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4" name="Content Placeholder 17"/>
          <p:cNvSpPr txBox="1">
            <a:spLocks/>
          </p:cNvSpPr>
          <p:nvPr/>
        </p:nvSpPr>
        <p:spPr>
          <a:xfrm>
            <a:off x="1064636" y="4303697"/>
            <a:ext cx="2134038"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an animation effect, like </a:t>
            </a:r>
            <a:r>
              <a:rPr lang="en-US" dirty="0">
                <a:solidFill>
                  <a:srgbClr val="D24726"/>
                </a:solidFill>
                <a:latin typeface="Segoe UI Semibold" panose="020B0702040204020203" pitchFamily="34" charset="0"/>
                <a:cs typeface="Segoe UI Semibold" panose="020B0702040204020203" pitchFamily="34" charset="0"/>
              </a:rPr>
              <a:t>Zoom</a:t>
            </a:r>
            <a:r>
              <a:rPr lang="en-US" dirty="0">
                <a:solidFill>
                  <a:prstClr val="black">
                    <a:lumMod val="75000"/>
                    <a:lumOff val="25000"/>
                  </a:prstClr>
                </a:solidFill>
                <a:latin typeface="Segoe UI" panose="020B0502040204020203" pitchFamily="34" charset="0"/>
                <a:cs typeface="Segoe UI" panose="020B0502040204020203" pitchFamily="34" charset="0"/>
              </a:rPr>
              <a:t>, and watch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what happens.</a:t>
            </a:r>
          </a:p>
        </p:txBody>
      </p:sp>
      <p:sp>
        <p:nvSpPr>
          <p:cNvPr id="25" name="Text Box 16" descr="Select me"/>
          <p:cNvSpPr txBox="1"/>
          <p:nvPr/>
        </p:nvSpPr>
        <p:spPr>
          <a:xfrm rot="21077122">
            <a:off x="6043297" y="1772253"/>
            <a:ext cx="1334770" cy="435610"/>
          </a:xfrm>
          <a:prstGeom prst="rect">
            <a:avLst/>
          </a:prstGeom>
          <a:noFill/>
          <a:ln>
            <a:noFill/>
          </a:ln>
          <a:effectLst/>
          <a:extLst>
            <a:ext uri="{C572A759-6A51-4108-AA02-DFA0A04FC94B}">
              <ma14:wrappingTextBoxFlag xmlns:ma14="http://schemas.microsoft.com/office/mac/drawingml/2011/main" xmlns=""/>
            </a:ext>
          </a:ex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200"/>
              </a:spcAft>
              <a:tabLst>
                <a:tab pos="4931410" algn="l"/>
              </a:tabLst>
            </a:pPr>
            <a:r>
              <a:rPr lang="en-US" sz="1200" b="1" kern="1000" spc="100" dirty="0">
                <a:ln>
                  <a:noFill/>
                </a:ln>
                <a:solidFill>
                  <a:srgbClr val="D24726"/>
                </a:solidFill>
                <a:effectLst/>
                <a:latin typeface="Segoe UI Semibold" panose="020B0702040204020203" pitchFamily="34" charset="0"/>
                <a:ea typeface="SimHei" panose="02010609060101010101" pitchFamily="49" charset="-122"/>
                <a:cs typeface="Times New Roman" panose="02020603050405020304" pitchFamily="18" charset="0"/>
              </a:rPr>
              <a:t>SELECT ME</a:t>
            </a:r>
            <a:endParaRPr lang="en-US" sz="1200" b="1" kern="1400" dirty="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5" name="Picture 4" descr="Tell Me box"/>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7766" y="3410945"/>
            <a:ext cx="2106152" cy="220833"/>
          </a:xfrm>
          <a:prstGeom prst="rect">
            <a:avLst/>
          </a:prstGeom>
        </p:spPr>
      </p:pic>
      <p:pic>
        <p:nvPicPr>
          <p:cNvPr id="7" name="Picture 6" descr="Animation tab showing zoom op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240" y="4069080"/>
            <a:ext cx="3803904" cy="2438400"/>
          </a:xfrm>
          <a:prstGeom prst="rect">
            <a:avLst/>
          </a:prstGeom>
        </p:spPr>
      </p:pic>
      <p:pic>
        <p:nvPicPr>
          <p:cNvPr id="24" name="Picture 23">
            <a:extLst>
              <a:ext uri="{C183D7F6-B498-43B3-948B-1728B52AA6E4}">
                <adec:decorative xmlns:adec="http://schemas.microsoft.com/office/drawing/2017/decorative" val="1"/>
              </a:ext>
            </a:extLst>
          </p:cNvPr>
          <p:cNvPicPr/>
          <p:nvPr/>
        </p:nvPicPr>
        <p:blipFill>
          <a:blip r:embed="rId4"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Picture 22" descr="Robot"/>
          <p:cNvPicPr>
            <a:picLocks noChangeAspect="1"/>
          </p:cNvPicPr>
          <p:nvPr/>
        </p:nvPicPr>
        <p:blipFill>
          <a:blip r:embed="rId5"/>
          <a:stretch>
            <a:fillRect/>
          </a:stretch>
        </p:blipFill>
        <p:spPr>
          <a:xfrm>
            <a:off x="7912741" y="1646170"/>
            <a:ext cx="2775459" cy="4531804"/>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Explore without leaving your slides</a:t>
            </a:r>
          </a:p>
        </p:txBody>
      </p:sp>
      <p:sp>
        <p:nvSpPr>
          <p:cNvPr id="16" name="Content Placeholder 17"/>
          <p:cNvSpPr txBox="1">
            <a:spLocks/>
          </p:cNvSpPr>
          <p:nvPr/>
        </p:nvSpPr>
        <p:spPr>
          <a:xfrm>
            <a:off x="541609" y="1296100"/>
            <a:ext cx="6093106"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Smart Lookup brings research directly in to PowerPoint.</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pic>
        <p:nvPicPr>
          <p:cNvPr id="18" name="Picture 17" descr="Three pictures showing the Smart Lookup fea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408" y="2144574"/>
            <a:ext cx="11129521" cy="3198055"/>
          </a:xfrm>
          <a:prstGeom prst="rect">
            <a:avLst/>
          </a:prstGeom>
        </p:spPr>
      </p:pic>
      <p:grpSp>
        <p:nvGrpSpPr>
          <p:cNvPr id="33" name="Group 32" descr="Small circle with number 1 inside  indicating step 1"/>
          <p:cNvGrpSpPr/>
          <p:nvPr/>
        </p:nvGrpSpPr>
        <p:grpSpPr bwMode="blackWhite">
          <a:xfrm>
            <a:off x="558723" y="5233381"/>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Right-click in the word </a:t>
            </a:r>
            <a:r>
              <a:rPr lang="en-US" i="1" dirty="0">
                <a:solidFill>
                  <a:srgbClr val="D24726"/>
                </a:solidFill>
                <a:latin typeface="Segoe UI" panose="020B0502040204020203" pitchFamily="34" charset="0"/>
                <a:cs typeface="Segoe UI" panose="020B0502040204020203" pitchFamily="34" charset="0"/>
              </a:rPr>
              <a:t>office</a:t>
            </a:r>
            <a:r>
              <a:rPr lang="en-US" dirty="0">
                <a:solidFill>
                  <a:prstClr val="black">
                    <a:lumMod val="75000"/>
                    <a:lumOff val="25000"/>
                  </a:prstClr>
                </a:solidFill>
                <a:latin typeface="Segoe UI" panose="020B0502040204020203" pitchFamily="34" charset="0"/>
                <a:cs typeface="Segoe UI" panose="020B0502040204020203" pitchFamily="34" charset="0"/>
              </a:rPr>
              <a:t> in the following phrase: </a:t>
            </a:r>
            <a:r>
              <a:rPr lang="en-US" sz="1800" dirty="0">
                <a:solidFill>
                  <a:prstClr val="black">
                    <a:lumMod val="75000"/>
                    <a:lumOff val="25000"/>
                  </a:prstClr>
                </a:solidFill>
                <a:latin typeface="Segoe UI" panose="020B0502040204020203" pitchFamily="34" charset="0"/>
                <a:cs typeface="Segoe UI" panose="020B0502040204020203" pitchFamily="34" charset="0"/>
              </a:rPr>
              <a:t>office furniture</a:t>
            </a:r>
          </a:p>
        </p:txBody>
      </p:sp>
      <p:grpSp>
        <p:nvGrpSpPr>
          <p:cNvPr id="36" name="Group 35" descr="Small circle with number 2 inside  indicating step 2"/>
          <p:cNvGrpSpPr/>
          <p:nvPr/>
        </p:nvGrpSpPr>
        <p:grpSpPr bwMode="blackWhite">
          <a:xfrm>
            <a:off x="4249102" y="5233381"/>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t>
            </a:r>
            <a:r>
              <a:rPr lang="en-US" dirty="0">
                <a:solidFill>
                  <a:srgbClr val="D24726"/>
                </a:solidFill>
                <a:latin typeface="Segoe UI Semibold" panose="020B0702040204020203" pitchFamily="34" charset="0"/>
                <a:cs typeface="Segoe UI Semibold" panose="020B0702040204020203" pitchFamily="34" charset="0"/>
              </a:rPr>
              <a:t>Smart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Lookup</a:t>
            </a:r>
            <a:r>
              <a:rPr lang="en-US" dirty="0">
                <a:latin typeface="Segoe UI" panose="020B0502040204020203" pitchFamily="34" charset="0"/>
                <a:cs typeface="Segoe UI" panose="020B0502040204020203" pitchFamily="34" charset="0"/>
              </a:rPr>
              <a:t>, and notice that results are contextual for that phrase, not </a:t>
            </a:r>
            <a:r>
              <a:rPr lang="en-US" sz="1800" dirty="0">
                <a:latin typeface="Segoe UI" panose="020B0502040204020203" pitchFamily="34" charset="0"/>
                <a:cs typeface="Segoe UI" panose="020B0502040204020203" pitchFamily="34" charset="0"/>
              </a:rPr>
              <a:t>Microsoft Office apps</a:t>
            </a:r>
            <a:r>
              <a:rPr lang="en-US" dirty="0">
                <a:latin typeface="Segoe UI" panose="020B0502040204020203" pitchFamily="34" charset="0"/>
                <a:cs typeface="Segoe UI" panose="020B0502040204020203" pitchFamily="34" charset="0"/>
              </a:rPr>
              <a:t>.</a:t>
            </a:r>
            <a:endParaRPr lang="en-US" dirty="0">
              <a:solidFill>
                <a:srgbClr val="D24726"/>
              </a:solidFill>
              <a:latin typeface="Segoe UI" panose="020B0502040204020203" pitchFamily="34" charset="0"/>
              <a:cs typeface="Segoe UI" panose="020B0502040204020203" pitchFamily="34" charset="0"/>
            </a:endParaRPr>
          </a:p>
        </p:txBody>
      </p:sp>
      <p:grpSp>
        <p:nvGrpSpPr>
          <p:cNvPr id="39" name="Group 38" descr="Small circle with number 3 inside  indicating step 3"/>
          <p:cNvGrpSpPr/>
          <p:nvPr/>
        </p:nvGrpSpPr>
        <p:grpSpPr bwMode="blackWhite">
          <a:xfrm>
            <a:off x="7930921" y="5233381"/>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pPr>
            <a:r>
              <a:rPr lang="en-US" dirty="0">
                <a:latin typeface="Segoe UI" panose="020B0502040204020203" pitchFamily="34" charset="0"/>
                <a:cs typeface="Segoe UI" panose="020B0502040204020203" pitchFamily="34" charset="0"/>
              </a:rPr>
              <a:t>Just for fun, try Smart Lookup again by right-clicking in the word </a:t>
            </a:r>
            <a:r>
              <a:rPr lang="en-US" i="1" dirty="0">
                <a:solidFill>
                  <a:srgbClr val="D24726"/>
                </a:solidFill>
                <a:latin typeface="Segoe UI" panose="020B0502040204020203" pitchFamily="34" charset="0"/>
                <a:cs typeface="Segoe UI" panose="020B0502040204020203" pitchFamily="34" charset="0"/>
              </a:rPr>
              <a:t>Office</a:t>
            </a:r>
            <a:r>
              <a:rPr lang="en-US" dirty="0"/>
              <a:t> </a:t>
            </a:r>
            <a:r>
              <a:rPr lang="en-US" dirty="0">
                <a:latin typeface="Segoe UI" panose="020B0502040204020203" pitchFamily="34" charset="0"/>
                <a:cs typeface="Segoe UI" panose="020B0502040204020203" pitchFamily="34" charset="0"/>
              </a:rPr>
              <a:t>in Step 2.</a:t>
            </a:r>
          </a:p>
          <a:p>
            <a:pPr marL="0" indent="0">
              <a:spcAft>
                <a:spcPts val="2000"/>
              </a:spcAft>
              <a:buNone/>
            </a:pPr>
            <a:endParaRPr lang="en-US" dirty="0">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Content Placeholder 4"/>
          <p:cNvSpPr>
            <a:spLocks noGrp="1"/>
          </p:cNvSpPr>
          <p:nvPr>
            <p:ph sz="half" idx="4294967295"/>
          </p:nvPr>
        </p:nvSpPr>
        <p:spPr>
          <a:xfrm>
            <a:off x="541611" y="2614427"/>
            <a:ext cx="9442648" cy="3978275"/>
          </a:xfrm>
        </p:spPr>
        <p:txBody>
          <a:bodyPr>
            <a:norm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br>
              <a:rPr lang="en-US" sz="2000" dirty="0">
                <a:latin typeface="Segoe UI Light" panose="020B0502040204020203" pitchFamily="34" charset="0"/>
                <a:cs typeface="Segoe UI Light" panose="020B0502040204020203" pitchFamily="34" charset="0"/>
              </a:rPr>
            </a:b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r>
              <a:rPr lang="en-US" sz="2000" u="sng" dirty="0">
                <a:latin typeface="Segoe UI Light" panose="020B0502040204020203" pitchFamily="34" charset="0"/>
                <a:cs typeface="Segoe UI Light" panose="020B0502040204020203" pitchFamily="34" charset="0"/>
                <a:hlinkClick r:id="rId3"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4"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p:txBody>
      </p:sp>
      <p:pic>
        <p:nvPicPr>
          <p:cNvPr id="2" name="Picture 1" descr="Tell Me butt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13981" y="2350333"/>
            <a:ext cx="1269672" cy="1189747"/>
          </a:xfrm>
          <a:prstGeom prst="rect">
            <a:avLst/>
          </a:prstGeom>
        </p:spPr>
      </p:pic>
      <p:pic>
        <p:nvPicPr>
          <p:cNvPr id="8" name="Picture 7" descr="Arrow pointing right with a hyperlink to the PowerPoint team blog. Select the image to visit the PowerPoint team blog ">
            <a:hlinkClick r:id="rId6" tooltip="Select here to visit the PowerPoint team blog."/>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09398" y="3566804"/>
            <a:ext cx="661940" cy="661940"/>
          </a:xfrm>
          <a:prstGeom prst="rect">
            <a:avLst/>
          </a:prstGeom>
        </p:spPr>
      </p:pic>
      <p:pic>
        <p:nvPicPr>
          <p:cNvPr id="7" name="Picture 6" descr="Arrow pointing right with a hyperlink to free PowerPoint training. Select the image to access free PowerPoint training">
            <a:hlinkClick r:id="rId4" tooltip="Select here to go to free PowerPoint training."/>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09398" y="4252716"/>
            <a:ext cx="661940" cy="661940"/>
          </a:xfrm>
          <a:prstGeom prst="rect">
            <a:avLst/>
          </a:prstGeom>
        </p:spPr>
      </p:pic>
      <p:sp>
        <p:nvSpPr>
          <p:cNvPr id="9" name="TextBox 8"/>
          <p:cNvSpPr txBox="1"/>
          <p:nvPr/>
        </p:nvSpPr>
        <p:spPr>
          <a:xfrm>
            <a:off x="541611" y="5738132"/>
            <a:ext cx="6193971" cy="307777"/>
          </a:xfrm>
          <a:prstGeom prst="rect">
            <a:avLst/>
          </a:prstGeom>
          <a:noFill/>
        </p:spPr>
        <p:txBody>
          <a:bodyPr wrap="square" rtlCol="0">
            <a:spAutoFit/>
          </a:bodyPr>
          <a:lstStyle/>
          <a:p>
            <a:pPr algn="l"/>
            <a:r>
              <a:rPr lang="en-US" sz="1400" dirty="0">
                <a:latin typeface="Segoe UI Light" panose="020B0502040204020203" pitchFamily="34" charset="0"/>
                <a:cs typeface="Segoe UI Light" panose="020B0502040204020203" pitchFamily="34" charset="0"/>
              </a:rPr>
              <a:t>SELECT THE ARROW WHEN IN SLIDE SHOW MODE</a:t>
            </a:r>
          </a:p>
        </p:txBody>
      </p:sp>
      <p:pic>
        <p:nvPicPr>
          <p:cNvPr id="11" name="Picture 10" descr="Tell Me box suggestions"/>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08066" y="2761488"/>
            <a:ext cx="2476156" cy="2001277"/>
          </a:xfrm>
          <a:prstGeom prst="rect">
            <a:avLst/>
          </a:prstGeom>
        </p:spPr>
      </p:pic>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2.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{C8FFBD8B-AA76-4F3A-B27D-D65EC043D73A}TF2989475c-5427-4edb-9ec1-00f4ce72165b77c8433f_win32-c33c42577f73</Template>
  <TotalTime>325</TotalTime>
  <Words>563</Words>
  <Application>Microsoft Office PowerPoint</Application>
  <PresentationFormat>Widescreen</PresentationFormat>
  <Paragraphs>61</Paragraphs>
  <Slides>10</Slides>
  <Notes>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Segoe UI</vt:lpstr>
      <vt:lpstr>Segoe UI Light</vt:lpstr>
      <vt:lpstr>Segoe UI Semibold</vt:lpstr>
      <vt:lpstr>Custom</vt:lpstr>
      <vt:lpstr>Welcome to PowerPoint</vt:lpstr>
      <vt:lpstr>Account Payable</vt:lpstr>
      <vt:lpstr>PowerPoint Presentation</vt:lpstr>
      <vt:lpstr>How to use PowerPoint Designer</vt:lpstr>
      <vt:lpstr>Morph</vt:lpstr>
      <vt:lpstr>Setting up Morph</vt:lpstr>
      <vt:lpstr>Working together in real time</vt:lpstr>
      <vt:lpstr>You’re an expert with Tell Me</vt:lpstr>
      <vt:lpstr>Explore without leaving your slides</vt:lpstr>
      <vt:lpstr>More questions about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Chidananda Tarai</dc:creator>
  <cp:keywords/>
  <cp:lastModifiedBy>Chidananda Tarai</cp:lastModifiedBy>
  <cp:revision>1</cp:revision>
  <dcterms:created xsi:type="dcterms:W3CDTF">2026-02-07T12:06:32Z</dcterms:created>
  <dcterms:modified xsi:type="dcterms:W3CDTF">2026-02-07T17:32:02Z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
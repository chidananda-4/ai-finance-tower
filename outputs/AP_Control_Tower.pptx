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060"/>
                </a:solidFill>
              </a:defRPr>
            </a:pPr>
            <a:r>
              <a:t>Spend &amp; Regional Mix</a:t>
            </a:r>
          </a:p>
        </p:txBody>
      </p:sp>
      <p:pic>
        <p:nvPicPr>
          <p:cNvPr id="3" name="Picture 2" descr="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486400" cy="2743200"/>
          </a:xfrm>
          <a:prstGeom prst="rect">
            <a:avLst/>
          </a:prstGeom>
        </p:spPr>
      </p:pic>
      <p:pic>
        <p:nvPicPr>
          <p:cNvPr id="4" name="Picture 3" descr="Consu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486400" cy="2743200"/>
          </a:xfrm>
          <a:prstGeom prst="rect">
            <a:avLst/>
          </a:prstGeom>
        </p:spPr>
      </p:pic>
      <p:pic>
        <p:nvPicPr>
          <p:cNvPr id="5" name="Picture 4" descr="Enterpri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5486400" cy="2743200"/>
          </a:xfrm>
          <a:prstGeom prst="rect">
            <a:avLst/>
          </a:prstGeom>
        </p:spPr>
      </p:pic>
      <p:pic>
        <p:nvPicPr>
          <p:cNvPr id="6" name="Picture 5" descr="SM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657600"/>
            <a:ext cx="54864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Total AP spend in December 2025 was $257.55M, showing seasonal fluctuations with peaks in March and October.</a:t>
            </a:r>
          </a:p>
          <a:p>
            <a:pPr>
              <a:defRPr sz="1000"/>
            </a:pPr>
            <a:r>
              <a:t>• Consumer BU leads with $102.13M spend; East region dominates Enterprise BU spend (44.81%) while West leads Consumer BU (42.24%).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060"/>
                </a:solidFill>
              </a:defRPr>
            </a:pPr>
            <a:r>
              <a:t>Operational Efficiency</a:t>
            </a:r>
          </a:p>
        </p:txBody>
      </p:sp>
      <p:pic>
        <p:nvPicPr>
          <p:cNvPr id="3" name="Picture 2" descr="processing_day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486400" cy="2743200"/>
          </a:xfrm>
          <a:prstGeom prst="rect">
            <a:avLst/>
          </a:prstGeom>
        </p:spPr>
      </p:pic>
      <p:pic>
        <p:nvPicPr>
          <p:cNvPr id="4" name="Picture 3" descr="sla_breach_pct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486400" cy="2743200"/>
          </a:xfrm>
          <a:prstGeom prst="rect">
            <a:avLst/>
          </a:prstGeom>
        </p:spPr>
      </p:pic>
      <p:pic>
        <p:nvPicPr>
          <p:cNvPr id="5" name="Picture 4" descr="backlog_value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5486400" cy="2743200"/>
          </a:xfrm>
          <a:prstGeom prst="rect">
            <a:avLst/>
          </a:prstGeom>
        </p:spPr>
      </p:pic>
      <p:pic>
        <p:nvPicPr>
          <p:cNvPr id="6" name="Picture 5" descr="late_payment_pct_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657600"/>
            <a:ext cx="54864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Processing days trended down to 30.0 days in December 2025, maintaining SLA breach above 99% consistently.</a:t>
            </a:r>
          </a:p>
          <a:p>
            <a:pPr>
              <a:defRPr sz="1000"/>
            </a:pPr>
            <a:r>
              <a:t>• Backlog value increased to $18.10M in December; late payments improved to 27.15%, the lowest of the year.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060"/>
                </a:solidFill>
              </a:defRPr>
            </a:pPr>
            <a:r>
              <a:t>Compliance &amp; Control</a:t>
            </a:r>
          </a:p>
        </p:txBody>
      </p:sp>
      <p:pic>
        <p:nvPicPr>
          <p:cNvPr id="3" name="Picture 2" descr="maverick_spend_p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486400" cy="2743200"/>
          </a:xfrm>
          <a:prstGeom prst="rect">
            <a:avLst/>
          </a:prstGeom>
        </p:spPr>
      </p:pic>
      <p:pic>
        <p:nvPicPr>
          <p:cNvPr id="4" name="Picture 3" descr="dispute_p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486400" cy="2743200"/>
          </a:xfrm>
          <a:prstGeom prst="rect">
            <a:avLst/>
          </a:prstGeom>
        </p:spPr>
      </p:pic>
      <p:pic>
        <p:nvPicPr>
          <p:cNvPr id="5" name="Picture 4" descr="preferred_vendor_p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54864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Maverick spend rose to 16.74% in December 2025, indicating control gaps; dispute rate increased to 6.57%.</a:t>
            </a:r>
          </a:p>
          <a:p>
            <a:pPr>
              <a:defRPr sz="1000"/>
            </a:pPr>
            <a:r>
              <a:t>• Preferred vendor utilization improved to 35.91%, highest in the year, supporting cost and compliance optimization.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060"/>
                </a:solidFill>
              </a:defRPr>
            </a:pPr>
            <a:r>
              <a:t>Risk &amp; Working Capital</a:t>
            </a:r>
          </a:p>
        </p:txBody>
      </p:sp>
      <p:pic>
        <p:nvPicPr>
          <p:cNvPr id="3" name="Picture 2" descr="late_payment_pc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486400" cy="2743200"/>
          </a:xfrm>
          <a:prstGeom prst="rect">
            <a:avLst/>
          </a:prstGeom>
        </p:spPr>
      </p:pic>
      <p:pic>
        <p:nvPicPr>
          <p:cNvPr id="4" name="Picture 3" descr="backlog_value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4864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Rising backlog and sustained high SLA breach suggest potential operational risks impacting working capital.</a:t>
            </a:r>
          </a:p>
          <a:p>
            <a:pPr>
              <a:defRPr sz="1000"/>
            </a:pPr>
            <a:r>
              <a:t>• Late payment reduction in December may ease financial exposure but vigilance on maverick spend is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
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p_s1_total.png"/>
          <p:cNvPicPr>
            <a:picLocks noChangeAspect="1"/>
          </p:cNvPicPr>
          <p:nvPr/>
        </p:nvPicPr>
        <p:blipFill>
          <a:blip r:embed="rId2"/>
          <a:stretch>
            <a:fillRect/>
          </a:stretch>
        </p:blipFill>
        <p:spPr>
          <a:xfrm>
            <a:off x="457200" y="731520"/>
            <a:ext cx="5486400" cy="2743200"/>
          </a:xfrm>
          <a:prstGeom prst="rect">
            <a:avLst/>
          </a:prstGeom>
        </p:spPr>
      </p:pic>
      <p:pic>
        <p:nvPicPr>
          <p:cNvPr id="3" name="Picture 2" descr="ap_s1_Consumer.png"/>
          <p:cNvPicPr>
            <a:picLocks noChangeAspect="1"/>
          </p:cNvPicPr>
          <p:nvPr/>
        </p:nvPicPr>
        <p:blipFill>
          <a:blip r:embed="rId3"/>
          <a:stretch>
            <a:fillRect/>
          </a:stretch>
        </p:blipFill>
        <p:spPr>
          <a:xfrm>
            <a:off x="6400800" y="731520"/>
            <a:ext cx="5486400" cy="2743200"/>
          </a:xfrm>
          <a:prstGeom prst="rect">
            <a:avLst/>
          </a:prstGeom>
        </p:spPr>
      </p:pic>
      <p:pic>
        <p:nvPicPr>
          <p:cNvPr id="4" name="Picture 3" descr="ap_s1_Enterprise.png"/>
          <p:cNvPicPr>
            <a:picLocks noChangeAspect="1"/>
          </p:cNvPicPr>
          <p:nvPr/>
        </p:nvPicPr>
        <p:blipFill>
          <a:blip r:embed="rId4"/>
          <a:stretch>
            <a:fillRect/>
          </a:stretch>
        </p:blipFill>
        <p:spPr>
          <a:xfrm>
            <a:off x="457200" y="3474720"/>
            <a:ext cx="5486400" cy="2743200"/>
          </a:xfrm>
          <a:prstGeom prst="rect">
            <a:avLst/>
          </a:prstGeom>
        </p:spPr>
      </p:pic>
      <p:pic>
        <p:nvPicPr>
          <p:cNvPr id="5" name="Picture 4" descr="ap_s1_SMB.png"/>
          <p:cNvPicPr>
            <a:picLocks noChangeAspect="1"/>
          </p:cNvPicPr>
          <p:nvPr/>
        </p:nvPicPr>
        <p:blipFill>
          <a:blip r:embed="rId5"/>
          <a:stretch>
            <a:fillRect/>
          </a:stretch>
        </p:blipFill>
        <p:spPr>
          <a:xfrm>
            <a:off x="6400800" y="3474720"/>
            <a:ext cx="5486400" cy="2743200"/>
          </a:xfrm>
          <a:prstGeom prst="rect">
            <a:avLst/>
          </a:prstGeom>
        </p:spPr>
      </p:pic>
      <p:sp>
        <p:nvSpPr>
          <p:cNvPr id="6" name="TextBox 5"/>
          <p:cNvSpPr txBox="1"/>
          <p:nvPr/>
        </p:nvSpPr>
        <p:spPr>
          <a:xfrm>
            <a:off x="457200" y="5669280"/>
            <a:ext cx="10972800" cy="1005840"/>
          </a:xfrm>
          <a:prstGeom prst="rect">
            <a:avLst/>
          </a:prstGeom>
          <a:noFill/>
        </p:spPr>
        <p:txBody>
          <a:bodyPr wrap="square">
            <a:spAutoFit/>
          </a:bodyPr>
          <a:lstStyle/>
          <a:p>
            <a:r>
              <a:t>• Overall AP spend increased by 4.17% in December 2025, driven primarily by Consumer (+5.28%) and Enterprise (+8.27%) units, despite SMB being flat. Consumer spend increased mainly in the East region (35.63%), while Enterprise saw a notable shift with increased spend in the West region (20.29%).</a:t>
            </a:r>
          </a:p>
          <a:p>
            <a:pPr/>
            <a:r>
              <a:t>• Recommended action: Investigate drivers behind Consumer East regional growth and Enterprise West spend uptick for sustainability or risks; consider targeted spend controls or supplier negotiations in these hotspots.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p_s2_proc.png"/>
          <p:cNvPicPr>
            <a:picLocks noChangeAspect="1"/>
          </p:cNvPicPr>
          <p:nvPr/>
        </p:nvPicPr>
        <p:blipFill>
          <a:blip r:embed="rId2"/>
          <a:stretch>
            <a:fillRect/>
          </a:stretch>
        </p:blipFill>
        <p:spPr>
          <a:xfrm>
            <a:off x="457200" y="731520"/>
            <a:ext cx="5486400" cy="2743200"/>
          </a:xfrm>
          <a:prstGeom prst="rect">
            <a:avLst/>
          </a:prstGeom>
        </p:spPr>
      </p:pic>
      <p:pic>
        <p:nvPicPr>
          <p:cNvPr id="3" name="Picture 2" descr="ap_s2_late.png"/>
          <p:cNvPicPr>
            <a:picLocks noChangeAspect="1"/>
          </p:cNvPicPr>
          <p:nvPr/>
        </p:nvPicPr>
        <p:blipFill>
          <a:blip r:embed="rId3"/>
          <a:stretch>
            <a:fillRect/>
          </a:stretch>
        </p:blipFill>
        <p:spPr>
          <a:xfrm>
            <a:off x="6400800" y="731520"/>
            <a:ext cx="5486400" cy="2743200"/>
          </a:xfrm>
          <a:prstGeom prst="rect">
            <a:avLst/>
          </a:prstGeom>
        </p:spPr>
      </p:pic>
      <p:pic>
        <p:nvPicPr>
          <p:cNvPr id="4" name="Picture 3" descr="ap_s2_disp.png"/>
          <p:cNvPicPr>
            <a:picLocks noChangeAspect="1"/>
          </p:cNvPicPr>
          <p:nvPr/>
        </p:nvPicPr>
        <p:blipFill>
          <a:blip r:embed="rId4"/>
          <a:stretch>
            <a:fillRect/>
          </a:stretch>
        </p:blipFill>
        <p:spPr>
          <a:xfrm>
            <a:off x="457200" y="3474720"/>
            <a:ext cx="5486400" cy="2743200"/>
          </a:xfrm>
          <a:prstGeom prst="rect">
            <a:avLst/>
          </a:prstGeom>
        </p:spPr>
      </p:pic>
      <p:sp>
        <p:nvSpPr>
          <p:cNvPr id="5" name="TextBox 4"/>
          <p:cNvSpPr txBox="1"/>
          <p:nvPr/>
        </p:nvSpPr>
        <p:spPr>
          <a:xfrm>
            <a:off x="457200" y="5669280"/>
            <a:ext cx="10972800" cy="1005840"/>
          </a:xfrm>
          <a:prstGeom prst="rect">
            <a:avLst/>
          </a:prstGeom>
          <a:noFill/>
        </p:spPr>
        <p:txBody>
          <a:bodyPr wrap="square">
            <a:spAutoFit/>
          </a:bodyPr>
          <a:lstStyle/>
          <a:p>
            <a:r>
              <a:t>• Processing time improved by 3.07%, indicating enhanced AP operational efficiency. Late payments decreased further to 27.15%, while dispute rates increased slightly to 6.57%.</a:t>
            </a:r>
          </a:p>
          <a:p>
            <a:pPr/>
            <a:r>
              <a:t>• Recommended action: Continue optimizing process workflows to sustain time gains; address rising disputes through improved vendor communication or dispute resolution mechanisms to prevent escalation.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p_s3_mav.png"/>
          <p:cNvPicPr>
            <a:picLocks noChangeAspect="1"/>
          </p:cNvPicPr>
          <p:nvPr/>
        </p:nvPicPr>
        <p:blipFill>
          <a:blip r:embed="rId2"/>
          <a:stretch>
            <a:fillRect/>
          </a:stretch>
        </p:blipFill>
        <p:spPr>
          <a:xfrm>
            <a:off x="457200" y="914400"/>
            <a:ext cx="5486400" cy="2743200"/>
          </a:xfrm>
          <a:prstGeom prst="rect">
            <a:avLst/>
          </a:prstGeom>
        </p:spPr>
      </p:pic>
      <p:sp>
        <p:nvSpPr>
          <p:cNvPr id="3" name="TextBox 2"/>
          <p:cNvSpPr txBox="1"/>
          <p:nvPr/>
        </p:nvSpPr>
        <p:spPr>
          <a:xfrm>
            <a:off x="457200" y="5669280"/>
            <a:ext cx="10972800" cy="1005840"/>
          </a:xfrm>
          <a:prstGeom prst="rect">
            <a:avLst/>
          </a:prstGeom>
          <a:noFill/>
        </p:spPr>
        <p:txBody>
          <a:bodyPr wrap="square">
            <a:spAutoFit/>
          </a:bodyPr>
          <a:lstStyle/>
          <a:p>
            <a:r>
              <a:t>• Maverick spend increased by 3.06%, indicating growing off-contract purchasing risks. Vendor risk index marginally declined to 27.66, but key vendors maintain high concentration over 64%.</a:t>
            </a:r>
          </a:p>
          <a:p>
            <a:pPr/>
            <a:r>
              <a:t>• Recommended action: Focus on reducing Maverick spend via enhanced policy enforcement and vendor compliance; reassess vendor risk mitigation especially for top five concentrated suppliers to hedge supply chain risks.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p_s4_dpo.png"/>
          <p:cNvPicPr>
            <a:picLocks noChangeAspect="1"/>
          </p:cNvPicPr>
          <p:nvPr/>
        </p:nvPicPr>
        <p:blipFill>
          <a:blip r:embed="rId2"/>
          <a:stretch>
            <a:fillRect/>
          </a:stretch>
        </p:blipFill>
        <p:spPr>
          <a:xfrm>
            <a:off x="457200" y="914400"/>
            <a:ext cx="5486400" cy="2743200"/>
          </a:xfrm>
          <a:prstGeom prst="rect">
            <a:avLst/>
          </a:prstGeom>
        </p:spPr>
      </p:pic>
      <p:sp>
        <p:nvSpPr>
          <p:cNvPr id="3" name="TextBox 2"/>
          <p:cNvSpPr txBox="1"/>
          <p:nvPr/>
        </p:nvSpPr>
        <p:spPr>
          <a:xfrm>
            <a:off x="457200" y="5669280"/>
            <a:ext cx="10972800" cy="1005840"/>
          </a:xfrm>
          <a:prstGeom prst="rect">
            <a:avLst/>
          </a:prstGeom>
          <a:noFill/>
        </p:spPr>
        <p:txBody>
          <a:bodyPr wrap="square">
            <a:spAutoFit/>
          </a:bodyPr>
          <a:lstStyle/>
          <a:p>
            <a:r>
              <a:t>• DPO slightly declined by 0.98%, settling near steady levels, while on-time payment percentage improved notably to 72.85%, implying better working capital management with faster payments.</a:t>
            </a:r>
          </a:p>
          <a:p>
            <a:pPr/>
            <a:r>
              <a:t>• Recommended action: Leverage improved on-time payments to negotiate better vendor terms; monitor DPO trends closely to balance cash flow and supplier relations without compromising payment discipline.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r_s1_rev.png"/>
          <p:cNvPicPr>
            <a:picLocks noChangeAspect="1"/>
          </p:cNvPicPr>
          <p:nvPr/>
        </p:nvPicPr>
        <p:blipFill>
          <a:blip r:embed="rId2"/>
          <a:stretch>
            <a:fillRect/>
          </a:stretch>
        </p:blipFill>
        <p:spPr>
          <a:xfrm>
            <a:off x="457200" y="914400"/>
            <a:ext cx="5486400" cy="2743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r_s2_seg.png"/>
          <p:cNvPicPr>
            <a:picLocks noChangeAspect="1"/>
          </p:cNvPicPr>
          <p:nvPr/>
        </p:nvPicPr>
        <p:blipFill>
          <a:blip r:embed="rId2"/>
          <a:stretch>
            <a:fillRect/>
          </a:stretch>
        </p:blipFill>
        <p:spPr>
          <a:xfrm>
            <a:off x="457200" y="914400"/>
            <a:ext cx="5486400" cy="2743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r_s3_rate.png"/>
          <p:cNvPicPr>
            <a:picLocks noChangeAspect="1"/>
          </p:cNvPicPr>
          <p:nvPr/>
        </p:nvPicPr>
        <p:blipFill>
          <a:blip r:embed="rId2"/>
          <a:stretch>
            <a:fillRect/>
          </a:stretch>
        </p:blipFill>
        <p:spPr>
          <a:xfrm>
            <a:off x="457200" y="914400"/>
            <a:ext cx="5486400" cy="2743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5669280"/>
            <a:ext cx="10972800" cy="1005840"/>
          </a:xfrm>
          <a:prstGeom prst="rect">
            <a:avLst/>
          </a:prstGeom>
          <a:noFill/>
        </p:spPr>
        <p:txBody>
          <a:bodyPr wrap="square">
            <a:spAutoFit/>
          </a:bodyPr>
          <a:lstStyle/>
          <a:p>
            <a:r>
              <a:t>• December 2025 showed positive revenue and spend growth but flagged critical concerns in accounts receivable collections and vendor compliance risks. Operational efficiencies in AP improved, yet Maverick spend and dispute rates require attention.</a:t>
            </a:r>
          </a:p>
          <a:p>
            <a:pPr/>
            <a:r>
              <a:t>• Immediate executive focus should be on reversing AR collection collapse, reinforcing AP spend controls especially in high growth regions, and leveraging improved payment timeliness for better working capital. Strengthened vendor risk and compliance programs are essential to mitigate emerging financial risks.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
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Monthly Spend (₹M)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dLbls>
            <c:numFmt formatCode="0.0&quot;M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241.1</c:v>
                </c:pt>
                <c:pt idx="1">
                  <c:v>203.2</c:v>
                </c:pt>
                <c:pt idx="2">
                  <c:v>278.5</c:v>
                </c:pt>
                <c:pt idx="3">
                  <c:v>235.5</c:v>
                </c:pt>
                <c:pt idx="4">
                  <c:v>239.6</c:v>
                </c:pt>
                <c:pt idx="5">
                  <c:v>224.4</c:v>
                </c:pt>
                <c:pt idx="6">
                  <c:v>245.6</c:v>
                </c:pt>
                <c:pt idx="7">
                  <c:v>233.9</c:v>
                </c:pt>
                <c:pt idx="8">
                  <c:v>253.7</c:v>
                </c:pt>
                <c:pt idx="9">
                  <c:v>264.6</c:v>
                </c:pt>
                <c:pt idx="10">
                  <c:v>247.2</c:v>
                </c:pt>
                <c:pt idx="11">
                  <c:v>257.6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Region Mix (%)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26.0</c:v>
                </c:pt>
                <c:pt idx="2">
                  <c:v>30.0</c:v>
                </c:pt>
                <c:pt idx="3">
                  <c:v>27.0</c:v>
                </c:pt>
                <c:pt idx="4">
                  <c:v>27.0</c:v>
                </c:pt>
                <c:pt idx="5">
                  <c:v>27.0</c:v>
                </c:pt>
                <c:pt idx="6">
                  <c:v>27.0</c:v>
                </c:pt>
                <c:pt idx="7">
                  <c:v>26.0</c:v>
                </c:pt>
                <c:pt idx="8">
                  <c:v>26.0</c:v>
                </c:pt>
                <c:pt idx="9">
                  <c:v>26.0</c:v>
                </c:pt>
                <c:pt idx="10">
                  <c:v>30.0</c:v>
                </c:pt>
                <c:pt idx="11">
                  <c:v>28.0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20.0</c:v>
                </c:pt>
                <c:pt idx="1">
                  <c:v>21.0</c:v>
                </c:pt>
                <c:pt idx="2">
                  <c:v>18.0</c:v>
                </c:pt>
                <c:pt idx="3">
                  <c:v>18.0</c:v>
                </c:pt>
                <c:pt idx="4">
                  <c:v>19.0</c:v>
                </c:pt>
                <c:pt idx="5">
                  <c:v>19.0</c:v>
                </c:pt>
                <c:pt idx="6">
                  <c:v>19.0</c:v>
                </c:pt>
                <c:pt idx="7">
                  <c:v>19.0</c:v>
                </c:pt>
                <c:pt idx="8">
                  <c:v>17.0</c:v>
                </c:pt>
                <c:pt idx="9">
                  <c:v>20.0</c:v>
                </c:pt>
                <c:pt idx="10">
                  <c:v>17.0</c:v>
                </c:pt>
                <c:pt idx="11">
                  <c:v>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24.0</c:v>
                </c:pt>
                <c:pt idx="1">
                  <c:v>25.0</c:v>
                </c:pt>
                <c:pt idx="2">
                  <c:v>23.0</c:v>
                </c:pt>
                <c:pt idx="3">
                  <c:v>23.0</c:v>
                </c:pt>
                <c:pt idx="4">
                  <c:v>23.0</c:v>
                </c:pt>
                <c:pt idx="5">
                  <c:v>25.0</c:v>
                </c:pt>
                <c:pt idx="6">
                  <c:v>23.0</c:v>
                </c:pt>
                <c:pt idx="7">
                  <c:v>25.0</c:v>
                </c:pt>
                <c:pt idx="8">
                  <c:v>25.0</c:v>
                </c:pt>
                <c:pt idx="9">
                  <c:v>23.0</c:v>
                </c:pt>
                <c:pt idx="10">
                  <c:v>26.0</c:v>
                </c:pt>
                <c:pt idx="11">
                  <c:v>23.0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29.0</c:v>
                </c:pt>
                <c:pt idx="1">
                  <c:v>28.0</c:v>
                </c:pt>
                <c:pt idx="2">
                  <c:v>29.0</c:v>
                </c:pt>
                <c:pt idx="3">
                  <c:v>32.0</c:v>
                </c:pt>
                <c:pt idx="4">
                  <c:v>30.0</c:v>
                </c:pt>
                <c:pt idx="5">
                  <c:v>29.0</c:v>
                </c:pt>
                <c:pt idx="6">
                  <c:v>32.0</c:v>
                </c:pt>
                <c:pt idx="7">
                  <c:v>30.0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31.0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Business Unit Mix (%)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Consumer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37.0</c:v>
                </c:pt>
                <c:pt idx="1">
                  <c:v>38.0</c:v>
                </c:pt>
                <c:pt idx="2">
                  <c:v>43.0</c:v>
                </c:pt>
                <c:pt idx="3">
                  <c:v>39.0</c:v>
                </c:pt>
                <c:pt idx="4">
                  <c:v>39.0</c:v>
                </c:pt>
                <c:pt idx="5">
                  <c:v>39.0</c:v>
                </c:pt>
                <c:pt idx="6">
                  <c:v>41.0</c:v>
                </c:pt>
                <c:pt idx="7">
                  <c:v>41.0</c:v>
                </c:pt>
                <c:pt idx="8">
                  <c:v>40.0</c:v>
                </c:pt>
                <c:pt idx="9">
                  <c:v>41.0</c:v>
                </c:pt>
                <c:pt idx="10">
                  <c:v>39.0</c:v>
                </c:pt>
                <c:pt idx="11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24.0</c:v>
                </c:pt>
                <c:pt idx="1">
                  <c:v>24.0</c:v>
                </c:pt>
                <c:pt idx="2">
                  <c:v>21.0</c:v>
                </c:pt>
                <c:pt idx="3">
                  <c:v>24.0</c:v>
                </c:pt>
                <c:pt idx="4">
                  <c:v>26.0</c:v>
                </c:pt>
                <c:pt idx="5">
                  <c:v>24.0</c:v>
                </c:pt>
                <c:pt idx="6">
                  <c:v>23.0</c:v>
                </c:pt>
                <c:pt idx="7">
                  <c:v>22.0</c:v>
                </c:pt>
                <c:pt idx="8">
                  <c:v>24.0</c:v>
                </c:pt>
                <c:pt idx="9">
                  <c:v>24.0</c:v>
                </c:pt>
                <c:pt idx="10">
                  <c:v>24.0</c:v>
                </c:pt>
                <c:pt idx="11">
                  <c:v>25.0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39.0</c:v>
                </c:pt>
                <c:pt idx="1">
                  <c:v>38.0</c:v>
                </c:pt>
                <c:pt idx="2">
                  <c:v>37.0</c:v>
                </c:pt>
                <c:pt idx="3">
                  <c:v>36.0</c:v>
                </c:pt>
                <c:pt idx="4">
                  <c:v>35.0</c:v>
                </c:pt>
                <c:pt idx="5">
                  <c:v>38.0</c:v>
                </c:pt>
                <c:pt idx="6">
                  <c:v>35.0</c:v>
                </c:pt>
                <c:pt idx="7">
                  <c:v>38.0</c:v>
                </c:pt>
                <c:pt idx="8">
                  <c:v>36.0</c:v>
                </c:pt>
                <c:pt idx="9">
                  <c:v>35.0</c:v>
                </c:pt>
                <c:pt idx="10">
                  <c:v>37.0</c:v>
                </c:pt>
                <c:pt idx="11">
                  <c:v>35.0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Category Mix (%)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Cloud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26.0</c:v>
                </c:pt>
                <c:pt idx="1">
                  <c:v>24.0</c:v>
                </c:pt>
                <c:pt idx="2">
                  <c:v>26.0</c:v>
                </c:pt>
                <c:pt idx="3">
                  <c:v>27.0</c:v>
                </c:pt>
                <c:pt idx="4">
                  <c:v>29.0</c:v>
                </c:pt>
                <c:pt idx="5">
                  <c:v>28.0</c:v>
                </c:pt>
                <c:pt idx="6">
                  <c:v>26.0</c:v>
                </c:pt>
                <c:pt idx="7">
                  <c:v>28.0</c:v>
                </c:pt>
                <c:pt idx="8">
                  <c:v>23.0</c:v>
                </c:pt>
                <c:pt idx="9">
                  <c:v>29.0</c:v>
                </c:pt>
                <c:pt idx="10">
                  <c:v>27.0</c:v>
                </c:pt>
                <c:pt idx="11">
                  <c:v>25.0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Facilities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13.0</c:v>
                </c:pt>
                <c:pt idx="1">
                  <c:v>11.0</c:v>
                </c:pt>
                <c:pt idx="2">
                  <c:v>13.0</c:v>
                </c:pt>
                <c:pt idx="3">
                  <c:v>10.0</c:v>
                </c:pt>
                <c:pt idx="4">
                  <c:v>11.0</c:v>
                </c:pt>
                <c:pt idx="5">
                  <c:v>10.0</c:v>
                </c:pt>
                <c:pt idx="6">
                  <c:v>11.0</c:v>
                </c:pt>
                <c:pt idx="7">
                  <c:v>12.0</c:v>
                </c:pt>
                <c:pt idx="8">
                  <c:v>10.0</c:v>
                </c:pt>
                <c:pt idx="9">
                  <c:v>11.0</c:v>
                </c:pt>
                <c:pt idx="10">
                  <c:v>10.0</c:v>
                </c:pt>
                <c:pt idx="11">
                  <c:v>11.0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 Services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19.0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19.0</c:v>
                </c:pt>
                <c:pt idx="5">
                  <c:v>19.0</c:v>
                </c:pt>
                <c:pt idx="6">
                  <c:v>19.0</c:v>
                </c:pt>
                <c:pt idx="7">
                  <c:v>19.0</c:v>
                </c:pt>
                <c:pt idx="8">
                  <c:v>19.0</c:v>
                </c:pt>
                <c:pt idx="9">
                  <c:v>20.0</c:v>
                </c:pt>
                <c:pt idx="10">
                  <c:v>20.0</c:v>
                </c:pt>
                <c:pt idx="11">
                  <c:v>18.0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Logistics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10.0</c:v>
                </c:pt>
                <c:pt idx="1">
                  <c:v>10.0</c:v>
                </c:pt>
                <c:pt idx="2">
                  <c:v>10.0</c:v>
                </c:pt>
                <c:pt idx="3">
                  <c:v>10.0</c:v>
                </c:pt>
                <c:pt idx="4">
                  <c:v>10.0</c:v>
                </c:pt>
                <c:pt idx="5">
                  <c:v>10.0</c:v>
                </c:pt>
                <c:pt idx="6">
                  <c:v>9.0</c:v>
                </c:pt>
                <c:pt idx="7">
                  <c:v>10.0</c:v>
                </c:pt>
                <c:pt idx="8">
                  <c:v>10.0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Marketing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10.0</c:v>
                </c:pt>
                <c:pt idx="1">
                  <c:v>10.0</c:v>
                </c:pt>
                <c:pt idx="2">
                  <c:v>8.0</c:v>
                </c:pt>
                <c:pt idx="3">
                  <c:v>11.0</c:v>
                </c:pt>
                <c:pt idx="4">
                  <c:v>12.0</c:v>
                </c:pt>
                <c:pt idx="5">
                  <c:v>10.0</c:v>
                </c:pt>
                <c:pt idx="6">
                  <c:v>12.0</c:v>
                </c:pt>
                <c:pt idx="7">
                  <c:v>10.0</c:v>
                </c:pt>
                <c:pt idx="8">
                  <c:v>12.0</c:v>
                </c:pt>
                <c:pt idx="9">
                  <c:v>11.0</c:v>
                </c:pt>
                <c:pt idx="10">
                  <c:v>11.0</c:v>
                </c:pt>
                <c:pt idx="11">
                  <c:v>10.0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Professional Services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19.0</c:v>
                </c:pt>
                <c:pt idx="1">
                  <c:v>21.0</c:v>
                </c:pt>
                <c:pt idx="2">
                  <c:v>21.0</c:v>
                </c:pt>
                <c:pt idx="3">
                  <c:v>19.0</c:v>
                </c:pt>
                <c:pt idx="4">
                  <c:v>17.0</c:v>
                </c:pt>
                <c:pt idx="5">
                  <c:v>18.0</c:v>
                </c:pt>
                <c:pt idx="6">
                  <c:v>20.0</c:v>
                </c:pt>
                <c:pt idx="7">
                  <c:v>18.0</c:v>
                </c:pt>
                <c:pt idx="8">
                  <c:v>23.0</c:v>
                </c:pt>
                <c:pt idx="9">
                  <c:v>16.0</c:v>
                </c:pt>
                <c:pt idx="10">
                  <c:v>18.0</c:v>
                </c:pt>
                <c:pt idx="11">
                  <c:v>22.0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Travel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4.0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4.0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4.0</c:v>
                </c:pt>
                <c:pt idx="11">
                  <c:v>3.0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060"/>
                </a:solidFill>
              </a:defRPr>
            </a:pPr>
            <a:r>
              <a:t>Total monthly spend fluctuated with a low in February (↓203M) and peak in October (↑265M), driven by increased allocation to Cloud and Professional Services categories; focus on stabilizing spend by optimizing category distribution next.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AP Spend Performance | FY2025 Monthly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347472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0" y="1188720"/>
          <a:ext cx="347472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3657600"/>
          <a:ext cx="347472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0" y="3657600"/>
          <a:ext cx="3474720" cy="2377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26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Key Implications</a:t>
            </a:r>
          </a:p>
          <a:p>
            <a:pPr lvl="1">
              <a:defRPr sz="1100">
                <a:solidFill>
                  <a:srgbClr val="505050"/>
                </a:solidFill>
              </a:defRPr>
            </a:pPr>
            <a:r>
              <a:t>Total monthly spend fluctuated with a low in February (↓203M) and peak in October (↑265M), driven by increased allocation to Cloud and Professional Services categories; focus on stabilizing spend by optimizing category distribution next.</a:t>
            </a:r>
          </a:p>
          <a:p>
            <a:pPr lvl="1">
              <a:defRPr sz="1100">
                <a:solidFill>
                  <a:srgbClr val="505050"/>
                </a:solidFill>
              </a:defRPr>
            </a:pPr>
            <a:r>
              <a:t>Regional spend shifted notably with West region share rising to a high of 31.92% in September while North region dropped to 17.01%, influenced by regional distribution changes; recommend assessing West region demand drivers to balance regional spend.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